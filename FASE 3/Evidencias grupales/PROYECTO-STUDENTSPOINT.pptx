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rimo Bold" charset="1" panose="020B0704020202020204"/>
      <p:regular r:id="rId22"/>
    </p:embeddedFont>
    <p:embeddedFont>
      <p:font typeface="Roboto Condensed" charset="1" panose="02000000000000000000"/>
      <p:regular r:id="rId23"/>
    </p:embeddedFont>
    <p:embeddedFont>
      <p:font typeface="Roboto Condensed Bold" charset="1" panose="02000000000000000000"/>
      <p:regular r:id="rId25"/>
    </p:embeddedFont>
    <p:embeddedFont>
      <p:font typeface="Roboto Condensed Bold Italics" charset="1" panose="02000000000000000000"/>
      <p:regular r:id="rId29"/>
    </p:embeddedFont>
    <p:embeddedFont>
      <p:font typeface="Roboto Condensed Italics" charset="1" panose="020000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13" Target="../media/image33.png" Type="http://schemas.openxmlformats.org/officeDocument/2006/relationships/image"/><Relationship Id="rId14" Target="../media/image34.svg" Type="http://schemas.openxmlformats.org/officeDocument/2006/relationships/image"/><Relationship Id="rId15" Target="../media/image35.png" Type="http://schemas.openxmlformats.org/officeDocument/2006/relationships/image"/><Relationship Id="rId16" Target="../media/image36.svg" Type="http://schemas.openxmlformats.org/officeDocument/2006/relationships/image"/><Relationship Id="rId17" Target="../media/image37.png" Type="http://schemas.openxmlformats.org/officeDocument/2006/relationships/image"/><Relationship Id="rId18" Target="../media/image38.svg" Type="http://schemas.openxmlformats.org/officeDocument/2006/relationships/image"/><Relationship Id="rId19" Target="../media/image4.pn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svg" Type="http://schemas.openxmlformats.org/officeDocument/2006/relationships/image"/><Relationship Id="rId11" Target="../media/image47.png" Type="http://schemas.openxmlformats.org/officeDocument/2006/relationships/image"/><Relationship Id="rId12" Target="../media/image48.svg" Type="http://schemas.openxmlformats.org/officeDocument/2006/relationships/image"/><Relationship Id="rId13" Target="../media/image49.png" Type="http://schemas.openxmlformats.org/officeDocument/2006/relationships/image"/><Relationship Id="rId14" Target="../media/image50.svg" Type="http://schemas.openxmlformats.org/officeDocument/2006/relationships/image"/><Relationship Id="rId15" Target="../media/image51.png" Type="http://schemas.openxmlformats.org/officeDocument/2006/relationships/image"/><Relationship Id="rId16" Target="../media/image52.svg" Type="http://schemas.openxmlformats.org/officeDocument/2006/relationships/image"/><Relationship Id="rId17" Target="../media/image53.png" Type="http://schemas.openxmlformats.org/officeDocument/2006/relationships/image"/><Relationship Id="rId18" Target="../media/image54.svg" Type="http://schemas.openxmlformats.org/officeDocument/2006/relationships/image"/><Relationship Id="rId19" Target="../media/image4.pn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3.png" Type="http://schemas.openxmlformats.org/officeDocument/2006/relationships/image"/><Relationship Id="rId8" Target="../media/image44.sv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svg" Type="http://schemas.openxmlformats.org/officeDocument/2006/relationships/image"/><Relationship Id="rId11" Target="../media/image63.png" Type="http://schemas.openxmlformats.org/officeDocument/2006/relationships/image"/><Relationship Id="rId12" Target="../media/image64.svg" Type="http://schemas.openxmlformats.org/officeDocument/2006/relationships/image"/><Relationship Id="rId13" Target="../media/image65.png" Type="http://schemas.openxmlformats.org/officeDocument/2006/relationships/image"/><Relationship Id="rId14" Target="../media/image66.svg" Type="http://schemas.openxmlformats.org/officeDocument/2006/relationships/image"/><Relationship Id="rId15" Target="../media/image67.png" Type="http://schemas.openxmlformats.org/officeDocument/2006/relationships/image"/><Relationship Id="rId16" Target="../media/image68.svg" Type="http://schemas.openxmlformats.org/officeDocument/2006/relationships/image"/><Relationship Id="rId17" Target="../media/image4.pn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55.png" Type="http://schemas.openxmlformats.org/officeDocument/2006/relationships/image"/><Relationship Id="rId4" Target="../media/image56.svg" Type="http://schemas.openxmlformats.org/officeDocument/2006/relationships/image"/><Relationship Id="rId5" Target="../media/image57.png" Type="http://schemas.openxmlformats.org/officeDocument/2006/relationships/image"/><Relationship Id="rId6" Target="../media/image58.svg" Type="http://schemas.openxmlformats.org/officeDocument/2006/relationships/image"/><Relationship Id="rId7" Target="../media/image59.png" Type="http://schemas.openxmlformats.org/officeDocument/2006/relationships/image"/><Relationship Id="rId8" Target="../media/image60.sv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69.png" Type="http://schemas.openxmlformats.org/officeDocument/2006/relationships/image"/><Relationship Id="rId4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81852" y="1624113"/>
            <a:ext cx="7038775" cy="7038775"/>
          </a:xfrm>
          <a:custGeom>
            <a:avLst/>
            <a:gdLst/>
            <a:ahLst/>
            <a:cxnLst/>
            <a:rect r="r" b="b" t="t" l="l"/>
            <a:pathLst>
              <a:path h="7038775" w="7038775">
                <a:moveTo>
                  <a:pt x="0" y="0"/>
                </a:moveTo>
                <a:lnTo>
                  <a:pt x="7038775" y="0"/>
                </a:lnTo>
                <a:lnTo>
                  <a:pt x="7038775" y="7038774"/>
                </a:lnTo>
                <a:lnTo>
                  <a:pt x="0" y="70387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2714" y="1454974"/>
            <a:ext cx="7377051" cy="7377051"/>
          </a:xfrm>
          <a:custGeom>
            <a:avLst/>
            <a:gdLst/>
            <a:ahLst/>
            <a:cxnLst/>
            <a:rect r="r" b="b" t="t" l="l"/>
            <a:pathLst>
              <a:path h="7377051" w="7377051">
                <a:moveTo>
                  <a:pt x="0" y="0"/>
                </a:moveTo>
                <a:lnTo>
                  <a:pt x="7377051" y="0"/>
                </a:lnTo>
                <a:lnTo>
                  <a:pt x="7377051" y="7377052"/>
                </a:lnTo>
                <a:lnTo>
                  <a:pt x="0" y="73770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13309" y="498897"/>
            <a:ext cx="2702692" cy="956077"/>
          </a:xfrm>
          <a:custGeom>
            <a:avLst/>
            <a:gdLst/>
            <a:ahLst/>
            <a:cxnLst/>
            <a:rect r="r" b="b" t="t" l="l"/>
            <a:pathLst>
              <a:path h="956077" w="2702692">
                <a:moveTo>
                  <a:pt x="0" y="0"/>
                </a:moveTo>
                <a:lnTo>
                  <a:pt x="2702692" y="0"/>
                </a:lnTo>
                <a:lnTo>
                  <a:pt x="2702692" y="956077"/>
                </a:lnTo>
                <a:lnTo>
                  <a:pt x="0" y="9560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850237" y="971847"/>
            <a:ext cx="9445526" cy="2811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8800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PROYECTO </a:t>
            </a:r>
            <a:r>
              <a:rPr lang="en-US" sz="8800" b="true">
                <a:solidFill>
                  <a:srgbClr val="1E1E1A"/>
                </a:solidFill>
                <a:latin typeface="Arimo Bold"/>
                <a:ea typeface="Arimo Bold"/>
                <a:cs typeface="Arimo Bold"/>
                <a:sym typeface="Arimo Bold"/>
              </a:rPr>
              <a:t>STUDENTSPOINT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13774" y="4138904"/>
            <a:ext cx="6999536" cy="64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4000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PRESENTACIÓN CAPSTONE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13774" y="4888254"/>
            <a:ext cx="3827710" cy="507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000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INTEGRANTES: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13774" y="5692223"/>
            <a:ext cx="9445526" cy="494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187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Pablo Avendaño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13774" y="6189904"/>
            <a:ext cx="9445526" cy="494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187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Darosh Luco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13774" y="6687586"/>
            <a:ext cx="9445526" cy="494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187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Isaac Paz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426555" y="3427076"/>
            <a:ext cx="3434889" cy="3396247"/>
          </a:xfrm>
          <a:custGeom>
            <a:avLst/>
            <a:gdLst/>
            <a:ahLst/>
            <a:cxnLst/>
            <a:rect r="r" b="b" t="t" l="l"/>
            <a:pathLst>
              <a:path h="3396247" w="3434889">
                <a:moveTo>
                  <a:pt x="0" y="0"/>
                </a:moveTo>
                <a:lnTo>
                  <a:pt x="3434890" y="0"/>
                </a:lnTo>
                <a:lnTo>
                  <a:pt x="3434890" y="3396246"/>
                </a:lnTo>
                <a:lnTo>
                  <a:pt x="0" y="3396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92238" y="1294507"/>
            <a:ext cx="11425981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DESCRIPCIÓN DEL PROYECTO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2312937"/>
            <a:ext cx="4611440" cy="56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Problema o dolor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7" y="3203079"/>
            <a:ext cx="16303526" cy="138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5"/>
              </a:lnSpc>
            </a:pP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Las plataformas institucionales actuales (usando como ejemplo a Blackboard) solo cubren la gestión académica digital, pero </a:t>
            </a:r>
            <a:r>
              <a:rPr lang="en-US" b="true" sz="2287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no acompañan al estudiante en la experiencia real del campus</a:t>
            </a: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Los estudiantes nuevos llegan </a:t>
            </a:r>
            <a:r>
              <a:rPr lang="en-US" b="true" sz="2287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desorientados</a:t>
            </a: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con ansiedad, sin herramientas visuales modernas para ubicarse ni espacios integrados para comunidad y bienestar.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5055840"/>
            <a:ext cx="5954614" cy="56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Propuesta de solución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740376"/>
            <a:ext cx="16414671" cy="87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Crear StudentsPoint, una PWA instalable. Plataforma autónoma, diseñada a partir de los vacíos que dejan los </a:t>
            </a:r>
            <a:r>
              <a:rPr lang="en-US" sz="2187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LMS </a:t>
            </a: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</a:t>
            </a:r>
            <a:r>
              <a:rPr lang="en-US" sz="2187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</a:t>
            </a: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dicionales (ej.</a:t>
            </a:r>
            <a:r>
              <a:rPr lang="en-US" sz="2187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Bla</a:t>
            </a: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ckboard) en orientación, comunidad y bi</a:t>
            </a:r>
            <a:r>
              <a:rPr lang="en-US" sz="2187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</a:t>
            </a: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</a:t>
            </a:r>
            <a:r>
              <a:rPr lang="en-US" sz="2187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</a:t>
            </a: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ar (LMS = Learning Management System)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7" y="6728072"/>
            <a:ext cx="16303526" cy="42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Recorridos virtuales fotográficos de la sede.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7" y="7280821"/>
            <a:ext cx="16303526" cy="42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Comunidad entre carreras mediante foros modernos y sencillos para todos.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7" y="7833569"/>
            <a:ext cx="16303526" cy="42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Bienestar estudiantil según necesidades de cada carrera.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7" y="8386316"/>
            <a:ext cx="16303526" cy="42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Reportes de infraestructura y administración por sede.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4813309" y="498897"/>
            <a:ext cx="2702692" cy="956077"/>
          </a:xfrm>
          <a:custGeom>
            <a:avLst/>
            <a:gdLst/>
            <a:ahLst/>
            <a:cxnLst/>
            <a:rect r="r" b="b" t="t" l="l"/>
            <a:pathLst>
              <a:path h="956077" w="2702692">
                <a:moveTo>
                  <a:pt x="0" y="0"/>
                </a:moveTo>
                <a:lnTo>
                  <a:pt x="2702692" y="0"/>
                </a:lnTo>
                <a:lnTo>
                  <a:pt x="2702692" y="956077"/>
                </a:lnTo>
                <a:lnTo>
                  <a:pt x="0" y="956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CA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4628406"/>
            <a:ext cx="542181" cy="542181"/>
            <a:chOff x="0" y="0"/>
            <a:chExt cx="722908" cy="7229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3011" cy="723011"/>
            </a:xfrm>
            <a:custGeom>
              <a:avLst/>
              <a:gdLst/>
              <a:ahLst/>
              <a:cxnLst/>
              <a:rect r="r" b="b" t="t" l="l"/>
              <a:pathLst>
                <a:path h="723011" w="723011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674751" y="0"/>
                  </a:lnTo>
                  <a:cubicBezTo>
                    <a:pt x="701421" y="0"/>
                    <a:pt x="723011" y="21590"/>
                    <a:pt x="723011" y="48260"/>
                  </a:cubicBezTo>
                  <a:lnTo>
                    <a:pt x="723011" y="674751"/>
                  </a:lnTo>
                  <a:cubicBezTo>
                    <a:pt x="723011" y="701421"/>
                    <a:pt x="701421" y="723011"/>
                    <a:pt x="674751" y="723011"/>
                  </a:cubicBezTo>
                  <a:lnTo>
                    <a:pt x="48260" y="723011"/>
                  </a:lnTo>
                  <a:cubicBezTo>
                    <a:pt x="21590" y="723011"/>
                    <a:pt x="0" y="701421"/>
                    <a:pt x="0" y="674751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92238" y="5652492"/>
            <a:ext cx="542181" cy="542181"/>
            <a:chOff x="0" y="0"/>
            <a:chExt cx="722908" cy="7229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3011" cy="723011"/>
            </a:xfrm>
            <a:custGeom>
              <a:avLst/>
              <a:gdLst/>
              <a:ahLst/>
              <a:cxnLst/>
              <a:rect r="r" b="b" t="t" l="l"/>
              <a:pathLst>
                <a:path h="723011" w="723011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674751" y="0"/>
                  </a:lnTo>
                  <a:cubicBezTo>
                    <a:pt x="701421" y="0"/>
                    <a:pt x="723011" y="21590"/>
                    <a:pt x="723011" y="48260"/>
                  </a:cubicBezTo>
                  <a:lnTo>
                    <a:pt x="723011" y="674751"/>
                  </a:lnTo>
                  <a:cubicBezTo>
                    <a:pt x="723011" y="701421"/>
                    <a:pt x="701421" y="723011"/>
                    <a:pt x="674751" y="723011"/>
                  </a:cubicBezTo>
                  <a:lnTo>
                    <a:pt x="48260" y="723011"/>
                  </a:lnTo>
                  <a:cubicBezTo>
                    <a:pt x="21590" y="723011"/>
                    <a:pt x="0" y="701421"/>
                    <a:pt x="0" y="674751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92238" y="6676579"/>
            <a:ext cx="542181" cy="542181"/>
            <a:chOff x="0" y="0"/>
            <a:chExt cx="722908" cy="722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3011" cy="723011"/>
            </a:xfrm>
            <a:custGeom>
              <a:avLst/>
              <a:gdLst/>
              <a:ahLst/>
              <a:cxnLst/>
              <a:rect r="r" b="b" t="t" l="l"/>
              <a:pathLst>
                <a:path h="723011" w="723011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674751" y="0"/>
                  </a:lnTo>
                  <a:cubicBezTo>
                    <a:pt x="701421" y="0"/>
                    <a:pt x="723011" y="21590"/>
                    <a:pt x="723011" y="48260"/>
                  </a:cubicBezTo>
                  <a:lnTo>
                    <a:pt x="723011" y="674751"/>
                  </a:lnTo>
                  <a:cubicBezTo>
                    <a:pt x="723011" y="701421"/>
                    <a:pt x="701421" y="723011"/>
                    <a:pt x="674751" y="723011"/>
                  </a:cubicBezTo>
                  <a:lnTo>
                    <a:pt x="48260" y="723011"/>
                  </a:lnTo>
                  <a:cubicBezTo>
                    <a:pt x="21590" y="723011"/>
                    <a:pt x="0" y="701421"/>
                    <a:pt x="0" y="674751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92238" y="7700665"/>
            <a:ext cx="542181" cy="542181"/>
            <a:chOff x="0" y="0"/>
            <a:chExt cx="722908" cy="722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3011" cy="723011"/>
            </a:xfrm>
            <a:custGeom>
              <a:avLst/>
              <a:gdLst/>
              <a:ahLst/>
              <a:cxnLst/>
              <a:rect r="r" b="b" t="t" l="l"/>
              <a:pathLst>
                <a:path h="723011" w="723011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674751" y="0"/>
                  </a:lnTo>
                  <a:cubicBezTo>
                    <a:pt x="701421" y="0"/>
                    <a:pt x="723011" y="21590"/>
                    <a:pt x="723011" y="48260"/>
                  </a:cubicBezTo>
                  <a:lnTo>
                    <a:pt x="723011" y="674751"/>
                  </a:lnTo>
                  <a:cubicBezTo>
                    <a:pt x="723011" y="701421"/>
                    <a:pt x="701421" y="723011"/>
                    <a:pt x="674751" y="723011"/>
                  </a:cubicBezTo>
                  <a:lnTo>
                    <a:pt x="48260" y="723011"/>
                  </a:lnTo>
                  <a:cubicBezTo>
                    <a:pt x="21590" y="723011"/>
                    <a:pt x="0" y="701421"/>
                    <a:pt x="0" y="674751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2696691" y="4584962"/>
            <a:ext cx="4599073" cy="4599073"/>
          </a:xfrm>
          <a:custGeom>
            <a:avLst/>
            <a:gdLst/>
            <a:ahLst/>
            <a:cxnLst/>
            <a:rect r="r" b="b" t="t" l="l"/>
            <a:pathLst>
              <a:path h="4599073" w="4599073">
                <a:moveTo>
                  <a:pt x="0" y="0"/>
                </a:moveTo>
                <a:lnTo>
                  <a:pt x="4599073" y="0"/>
                </a:lnTo>
                <a:lnTo>
                  <a:pt x="4599073" y="4599073"/>
                </a:lnTo>
                <a:lnTo>
                  <a:pt x="0" y="45990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92238" y="972294"/>
            <a:ext cx="6025009" cy="800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4687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OBJETIVOS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238" y="1840706"/>
            <a:ext cx="3891855" cy="480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81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Objetivo General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37" y="2587377"/>
            <a:ext cx="16303526" cy="89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274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Desarrollar una plataforma Web y Mobile que mejore la orientación, integración y bienestar estudiantil dentro del campus físico, complementando las herramientas académicas existentes.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2238" y="3786485"/>
            <a:ext cx="5058668" cy="480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81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Objetivos Específicos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2501" y="4702076"/>
            <a:ext cx="361504" cy="42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81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75371" y="4673054"/>
            <a:ext cx="12928699" cy="41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Implementar recorridos virtuales reales para orientación en sedes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82501" y="5726163"/>
            <a:ext cx="361504" cy="42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81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75371" y="5697141"/>
            <a:ext cx="14133611" cy="41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Construir una comunidad estudiantil activa mediante foros y votaciones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82501" y="6750249"/>
            <a:ext cx="361504" cy="42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81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75371" y="6721227"/>
            <a:ext cx="14141946" cy="41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Integrar un módulo de bienestar físico/emocional basado en cada carrera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82501" y="7774335"/>
            <a:ext cx="361504" cy="42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81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75371" y="7745314"/>
            <a:ext cx="14662845" cy="41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Diseñar un sistema de reportes de infraestructura para apoyo institucional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4813309" y="498897"/>
            <a:ext cx="2702692" cy="956077"/>
          </a:xfrm>
          <a:custGeom>
            <a:avLst/>
            <a:gdLst/>
            <a:ahLst/>
            <a:cxnLst/>
            <a:rect r="r" b="b" t="t" l="l"/>
            <a:pathLst>
              <a:path h="956077" w="2702692">
                <a:moveTo>
                  <a:pt x="0" y="0"/>
                </a:moveTo>
                <a:lnTo>
                  <a:pt x="2702692" y="0"/>
                </a:lnTo>
                <a:lnTo>
                  <a:pt x="2702692" y="956077"/>
                </a:lnTo>
                <a:lnTo>
                  <a:pt x="0" y="956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120910" y="4186981"/>
            <a:ext cx="4099369" cy="4114800"/>
          </a:xfrm>
          <a:custGeom>
            <a:avLst/>
            <a:gdLst/>
            <a:ahLst/>
            <a:cxnLst/>
            <a:rect r="r" b="b" t="t" l="l"/>
            <a:pathLst>
              <a:path h="4114800" w="4099369">
                <a:moveTo>
                  <a:pt x="0" y="0"/>
                </a:moveTo>
                <a:lnTo>
                  <a:pt x="4099370" y="0"/>
                </a:lnTo>
                <a:lnTo>
                  <a:pt x="4099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44862" y="40691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2238" y="1720006"/>
            <a:ext cx="10934849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ALCANCES Y LIMITACIONES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333750"/>
            <a:ext cx="4252912" cy="56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Alcances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4082206"/>
            <a:ext cx="7805886" cy="91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4984" indent="-172492" lvl="1">
              <a:lnSpc>
                <a:spcPts val="3725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Recorridos virtuales fotográficos para DUOC Maipú (expandible a cualquier institución).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5088583"/>
            <a:ext cx="7805886" cy="44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4984" indent="-172492" lvl="1">
              <a:lnSpc>
                <a:spcPts val="3725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Plataforma PWA instalable con funcionamiento offline parcial.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5641330"/>
            <a:ext cx="7805886" cy="44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4984" indent="-172492" lvl="1">
              <a:lnSpc>
                <a:spcPts val="3725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Foros entre carreras con moderación.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6194077"/>
            <a:ext cx="7805886" cy="44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4984" indent="-172492" lvl="1">
              <a:lnSpc>
                <a:spcPts val="3725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Bienestar estudiantil (kinesiología, salud mental).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6746825"/>
            <a:ext cx="7805886" cy="44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4984" indent="-172492" lvl="1">
              <a:lnSpc>
                <a:spcPts val="3725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Reportes de infraestructura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7299572"/>
            <a:ext cx="7805886" cy="44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4984" indent="-172492" lvl="1">
              <a:lnSpc>
                <a:spcPts val="3725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Portafolio automático del estudiante.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238" y="7852321"/>
            <a:ext cx="7805886" cy="44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4984" indent="-172492" lvl="1">
              <a:lnSpc>
                <a:spcPts val="3725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Aprendizaje via cursos externos, tutorias y videos.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99401" y="3333750"/>
            <a:ext cx="4252912" cy="56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Limitaciones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99401" y="4082206"/>
            <a:ext cx="7805886" cy="44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4984" indent="-172492" lvl="1">
              <a:lnSpc>
                <a:spcPts val="3725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 reemplaza un LMS: </a:t>
            </a:r>
            <a:r>
              <a:rPr lang="en-US" b="true" sz="2287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no maneja notas, tareas ni evaluaciones</a:t>
            </a: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99401" y="4634954"/>
            <a:ext cx="7805886" cy="91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4984" indent="-172492" lvl="1">
              <a:lnSpc>
                <a:spcPts val="3725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 integra APIs propietarias de instituciones (como sistemas internos).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99401" y="5641330"/>
            <a:ext cx="7805886" cy="91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4984" indent="-172492" lvl="1">
              <a:lnSpc>
                <a:spcPts val="3725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 calidad de recorridos depende del aporte de fotos de estudiantes.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99401" y="6647706"/>
            <a:ext cx="7805886" cy="91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4984" indent="-172492" lvl="1">
              <a:lnSpc>
                <a:spcPts val="3725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Algunas funciones requieren administradores por sede para operar. (Foros)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4813309" y="498897"/>
            <a:ext cx="2702692" cy="956077"/>
          </a:xfrm>
          <a:custGeom>
            <a:avLst/>
            <a:gdLst/>
            <a:ahLst/>
            <a:cxnLst/>
            <a:rect r="r" b="b" t="t" l="l"/>
            <a:pathLst>
              <a:path h="956077" w="2702692">
                <a:moveTo>
                  <a:pt x="0" y="0"/>
                </a:moveTo>
                <a:lnTo>
                  <a:pt x="2702692" y="0"/>
                </a:lnTo>
                <a:lnTo>
                  <a:pt x="2702692" y="956077"/>
                </a:lnTo>
                <a:lnTo>
                  <a:pt x="0" y="9560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525019" y="1471687"/>
            <a:ext cx="6866373" cy="6866373"/>
          </a:xfrm>
          <a:custGeom>
            <a:avLst/>
            <a:gdLst/>
            <a:ahLst/>
            <a:cxnLst/>
            <a:rect r="r" b="b" t="t" l="l"/>
            <a:pathLst>
              <a:path h="6866373" w="6866373">
                <a:moveTo>
                  <a:pt x="0" y="0"/>
                </a:moveTo>
                <a:lnTo>
                  <a:pt x="6866373" y="0"/>
                </a:lnTo>
                <a:lnTo>
                  <a:pt x="6866373" y="6866373"/>
                </a:lnTo>
                <a:lnTo>
                  <a:pt x="0" y="68663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35068" y="971550"/>
            <a:ext cx="7088237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METODOLOGÍA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5068" y="1989980"/>
            <a:ext cx="6418510" cy="56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Metodología de trabajo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5068" y="2889646"/>
            <a:ext cx="9445526" cy="42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Ágil</a:t>
            </a: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con Sprints semanales.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5068" y="3442394"/>
            <a:ext cx="944552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Organización en </a:t>
            </a:r>
            <a:r>
              <a:rPr lang="en-US" b="true" sz="2187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Trello (Kanban)</a:t>
            </a: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5068" y="3995141"/>
            <a:ext cx="9445526" cy="42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Divisiones por rol: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5254" y="4552354"/>
            <a:ext cx="4576209" cy="266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8429" indent="-252810" lvl="2">
              <a:lnSpc>
                <a:spcPts val="3561"/>
              </a:lnSpc>
              <a:buFont typeface="Arial"/>
              <a:buChar char="⚬"/>
            </a:pPr>
            <a:r>
              <a:rPr lang="en-US" b="true" sz="2187" i="true">
                <a:solidFill>
                  <a:srgbClr val="000000"/>
                </a:solidFill>
                <a:latin typeface="Roboto Condensed Bold Italics"/>
                <a:ea typeface="Roboto Condensed Bold Italics"/>
                <a:cs typeface="Roboto Condensed Bold Italics"/>
                <a:sym typeface="Roboto Condensed Bold Italics"/>
              </a:rPr>
              <a:t>Isa</a:t>
            </a:r>
            <a:r>
              <a:rPr lang="en-US" b="true" sz="2187" i="true">
                <a:solidFill>
                  <a:srgbClr val="000000"/>
                </a:solidFill>
                <a:latin typeface="Roboto Condensed Bold Italics"/>
                <a:ea typeface="Roboto Condensed Bold Italics"/>
                <a:cs typeface="Roboto Condensed Bold Italics"/>
                <a:sym typeface="Roboto Condensed Bold Italics"/>
              </a:rPr>
              <a:t>ac Paz</a:t>
            </a:r>
          </a:p>
          <a:p>
            <a:pPr algn="l" marL="758429" indent="-252810" lvl="2">
              <a:lnSpc>
                <a:spcPts val="3561"/>
              </a:lnSpc>
              <a:buFont typeface="Arial"/>
              <a:buChar char="⚬"/>
            </a:pPr>
            <a:r>
              <a:rPr lang="en-US" sz="2187" i="true">
                <a:solidFill>
                  <a:srgbClr val="000000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Dirección general del proyecto</a:t>
            </a:r>
          </a:p>
          <a:p>
            <a:pPr algn="l" marL="758429" indent="-252810" lvl="2">
              <a:lnSpc>
                <a:spcPts val="3561"/>
              </a:lnSpc>
              <a:buFont typeface="Arial"/>
              <a:buChar char="⚬"/>
            </a:pPr>
            <a:r>
              <a:rPr lang="en-US" sz="2187" i="true">
                <a:solidFill>
                  <a:srgbClr val="000000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Arquitectura conceptual</a:t>
            </a:r>
          </a:p>
          <a:p>
            <a:pPr algn="l" marL="758429" indent="-252810" lvl="2">
              <a:lnSpc>
                <a:spcPts val="3561"/>
              </a:lnSpc>
              <a:buFont typeface="Arial"/>
              <a:buChar char="⚬"/>
            </a:pPr>
            <a:r>
              <a:rPr lang="en-US" sz="2187" i="true">
                <a:solidFill>
                  <a:srgbClr val="000000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Documentación técnica y funcional</a:t>
            </a:r>
          </a:p>
          <a:p>
            <a:pPr algn="l" marL="758429" indent="-252810" lvl="2">
              <a:lnSpc>
                <a:spcPts val="3561"/>
              </a:lnSpc>
              <a:buFont typeface="Arial"/>
              <a:buChar char="⚬"/>
            </a:pPr>
            <a:r>
              <a:rPr lang="en-US" sz="2187" i="true">
                <a:solidFill>
                  <a:srgbClr val="000000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Integración final</a:t>
            </a:r>
          </a:p>
          <a:p>
            <a:pPr algn="l" marL="758429" indent="-252810" lvl="2">
              <a:lnSpc>
                <a:spcPts val="3562"/>
              </a:lnSpc>
              <a:buFont typeface="Arial"/>
              <a:buChar char="⚬"/>
            </a:pPr>
            <a:r>
              <a:rPr lang="en-US" sz="2187" i="true">
                <a:solidFill>
                  <a:srgbClr val="000000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Analista Funcional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13868" y="4546907"/>
            <a:ext cx="5111151" cy="310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8429" indent="-252810" lvl="2">
              <a:lnSpc>
                <a:spcPts val="3561"/>
              </a:lnSpc>
              <a:buFont typeface="Arial"/>
              <a:buChar char="⚬"/>
            </a:pPr>
            <a:r>
              <a:rPr lang="en-US" b="true" sz="2187" i="true">
                <a:solidFill>
                  <a:srgbClr val="000000"/>
                </a:solidFill>
                <a:latin typeface="Roboto Condensed Bold Italics"/>
                <a:ea typeface="Roboto Condensed Bold Italics"/>
                <a:cs typeface="Roboto Condensed Bold Italics"/>
                <a:sym typeface="Roboto Condensed Bold Italics"/>
              </a:rPr>
              <a:t>Pablo Avendaño</a:t>
            </a:r>
          </a:p>
          <a:p>
            <a:pPr algn="l" marL="758429" indent="-252810" lvl="2">
              <a:lnSpc>
                <a:spcPts val="3561"/>
              </a:lnSpc>
              <a:buFont typeface="Arial"/>
              <a:buChar char="⚬"/>
            </a:pPr>
            <a:r>
              <a:rPr lang="en-US" sz="2187" i="true">
                <a:solidFill>
                  <a:srgbClr val="000000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Corrección de errores y refactorización del código</a:t>
            </a:r>
          </a:p>
          <a:p>
            <a:pPr algn="l" marL="758429" indent="-252810" lvl="2">
              <a:lnSpc>
                <a:spcPts val="3561"/>
              </a:lnSpc>
              <a:buFont typeface="Arial"/>
              <a:buChar char="⚬"/>
            </a:pPr>
            <a:r>
              <a:rPr lang="en-US" sz="2187" i="true">
                <a:solidFill>
                  <a:srgbClr val="000000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Desarrolo principal del Frontend</a:t>
            </a:r>
          </a:p>
          <a:p>
            <a:pPr algn="l" marL="758429" indent="-252810" lvl="2">
              <a:lnSpc>
                <a:spcPts val="3561"/>
              </a:lnSpc>
              <a:buFont typeface="Arial"/>
              <a:buChar char="⚬"/>
            </a:pPr>
            <a:r>
              <a:rPr lang="en-US" sz="2187" i="true">
                <a:solidFill>
                  <a:srgbClr val="000000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Diseño funcional e interfaz del sistema</a:t>
            </a:r>
          </a:p>
          <a:p>
            <a:pPr algn="l" marL="758428" indent="-252809" lvl="2">
              <a:lnSpc>
                <a:spcPts val="3562"/>
              </a:lnSpc>
              <a:buFont typeface="Arial"/>
              <a:buChar char="⚬"/>
            </a:pPr>
            <a:r>
              <a:rPr lang="en-US" sz="2187" i="true">
                <a:solidFill>
                  <a:srgbClr val="000000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Modelado de datos e impleme</a:t>
            </a:r>
            <a:r>
              <a:rPr lang="en-US" sz="2187" i="true">
                <a:solidFill>
                  <a:srgbClr val="000000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ntación inicial de la API REST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33467" y="4448770"/>
            <a:ext cx="5333793" cy="221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8429" indent="-252810" lvl="2">
              <a:lnSpc>
                <a:spcPts val="3561"/>
              </a:lnSpc>
              <a:buFont typeface="Arial"/>
              <a:buChar char="⚬"/>
            </a:pPr>
            <a:r>
              <a:rPr lang="en-US" b="true" sz="2187" i="true">
                <a:solidFill>
                  <a:srgbClr val="000000"/>
                </a:solidFill>
                <a:latin typeface="Roboto Condensed Bold Italics"/>
                <a:ea typeface="Roboto Condensed Bold Italics"/>
                <a:cs typeface="Roboto Condensed Bold Italics"/>
                <a:sym typeface="Roboto Condensed Bold Italics"/>
              </a:rPr>
              <a:t>Da</a:t>
            </a:r>
            <a:r>
              <a:rPr lang="en-US" b="true" sz="2187" i="true">
                <a:solidFill>
                  <a:srgbClr val="000000"/>
                </a:solidFill>
                <a:latin typeface="Roboto Condensed Bold Italics"/>
                <a:ea typeface="Roboto Condensed Bold Italics"/>
                <a:cs typeface="Roboto Condensed Bold Italics"/>
                <a:sym typeface="Roboto Condensed Bold Italics"/>
              </a:rPr>
              <a:t>rosh Luco</a:t>
            </a:r>
          </a:p>
          <a:p>
            <a:pPr algn="l" marL="758429" indent="-252810" lvl="2">
              <a:lnSpc>
                <a:spcPts val="3561"/>
              </a:lnSpc>
              <a:buFont typeface="Arial"/>
              <a:buChar char="⚬"/>
            </a:pPr>
            <a:r>
              <a:rPr lang="en-US" sz="2187" i="true">
                <a:solidFill>
                  <a:srgbClr val="000000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E</a:t>
            </a:r>
            <a:r>
              <a:rPr lang="en-US" sz="2187" i="true">
                <a:solidFill>
                  <a:srgbClr val="000000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jecución de pruebas y detección de bugs</a:t>
            </a:r>
          </a:p>
          <a:p>
            <a:pPr algn="l" marL="758429" indent="-252810" lvl="2">
              <a:lnSpc>
                <a:spcPts val="3561"/>
              </a:lnSpc>
              <a:buFont typeface="Arial"/>
              <a:buChar char="⚬"/>
            </a:pPr>
            <a:r>
              <a:rPr lang="en-US" sz="2187" i="true">
                <a:solidFill>
                  <a:srgbClr val="000000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Desarrollo principal del backend</a:t>
            </a:r>
          </a:p>
          <a:p>
            <a:pPr algn="l" marL="758428" indent="-252809" lvl="2">
              <a:lnSpc>
                <a:spcPts val="3562"/>
              </a:lnSpc>
              <a:buFont typeface="Arial"/>
              <a:buChar char="⚬"/>
            </a:pPr>
            <a:r>
              <a:rPr lang="en-US" sz="2187" i="true">
                <a:solidFill>
                  <a:srgbClr val="000000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Optimización y pulido final de funcionalidades e integración con la API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806446"/>
            <a:ext cx="944552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Integración continua con pruebas (pytest) y despliegues iterativos.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225546"/>
            <a:ext cx="9445526" cy="871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764" indent="-164882" lvl="1">
              <a:lnSpc>
                <a:spcPts val="3561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Documentación progresiva (README, Trello).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Desarrollo proactivo del proyecto (Equipo pequeño haciendo cosas grandes)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4813309" y="498897"/>
            <a:ext cx="2702692" cy="956077"/>
          </a:xfrm>
          <a:custGeom>
            <a:avLst/>
            <a:gdLst/>
            <a:ahLst/>
            <a:cxnLst/>
            <a:rect r="r" b="b" t="t" l="l"/>
            <a:pathLst>
              <a:path h="956077" w="2702692">
                <a:moveTo>
                  <a:pt x="0" y="0"/>
                </a:moveTo>
                <a:lnTo>
                  <a:pt x="2702692" y="0"/>
                </a:lnTo>
                <a:lnTo>
                  <a:pt x="2702692" y="956077"/>
                </a:lnTo>
                <a:lnTo>
                  <a:pt x="0" y="956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87475" y="2588121"/>
            <a:ext cx="16313051" cy="6668690"/>
            <a:chOff x="0" y="0"/>
            <a:chExt cx="21750735" cy="88915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50782" cy="8891651"/>
            </a:xfrm>
            <a:custGeom>
              <a:avLst/>
              <a:gdLst/>
              <a:ahLst/>
              <a:cxnLst/>
              <a:rect r="r" b="b" t="t" l="l"/>
              <a:pathLst>
                <a:path h="8891651" w="21750782">
                  <a:moveTo>
                    <a:pt x="0" y="46101"/>
                  </a:moveTo>
                  <a:cubicBezTo>
                    <a:pt x="0" y="20574"/>
                    <a:pt x="20574" y="0"/>
                    <a:pt x="46101" y="0"/>
                  </a:cubicBezTo>
                  <a:lnTo>
                    <a:pt x="21704681" y="0"/>
                  </a:lnTo>
                  <a:lnTo>
                    <a:pt x="21704681" y="6350"/>
                  </a:lnTo>
                  <a:lnTo>
                    <a:pt x="21704681" y="0"/>
                  </a:lnTo>
                  <a:cubicBezTo>
                    <a:pt x="21730081" y="0"/>
                    <a:pt x="21750782" y="20574"/>
                    <a:pt x="21750782" y="46101"/>
                  </a:cubicBezTo>
                  <a:lnTo>
                    <a:pt x="21744432" y="46101"/>
                  </a:lnTo>
                  <a:lnTo>
                    <a:pt x="21750782" y="46101"/>
                  </a:lnTo>
                  <a:lnTo>
                    <a:pt x="21750782" y="8845550"/>
                  </a:lnTo>
                  <a:lnTo>
                    <a:pt x="21744432" y="8845550"/>
                  </a:lnTo>
                  <a:lnTo>
                    <a:pt x="21750782" y="8845550"/>
                  </a:lnTo>
                  <a:cubicBezTo>
                    <a:pt x="21750782" y="8870950"/>
                    <a:pt x="21730208" y="8891651"/>
                    <a:pt x="21704681" y="8891651"/>
                  </a:cubicBezTo>
                  <a:lnTo>
                    <a:pt x="21704681" y="8885301"/>
                  </a:lnTo>
                  <a:lnTo>
                    <a:pt x="21704681" y="8891651"/>
                  </a:lnTo>
                  <a:lnTo>
                    <a:pt x="46101" y="8891651"/>
                  </a:lnTo>
                  <a:lnTo>
                    <a:pt x="46101" y="8885301"/>
                  </a:lnTo>
                  <a:lnTo>
                    <a:pt x="46101" y="8891651"/>
                  </a:lnTo>
                  <a:cubicBezTo>
                    <a:pt x="20701" y="8891651"/>
                    <a:pt x="0" y="8871077"/>
                    <a:pt x="0" y="8845550"/>
                  </a:cubicBezTo>
                  <a:lnTo>
                    <a:pt x="0" y="46101"/>
                  </a:lnTo>
                  <a:lnTo>
                    <a:pt x="6350" y="46101"/>
                  </a:lnTo>
                  <a:lnTo>
                    <a:pt x="0" y="46101"/>
                  </a:lnTo>
                  <a:moveTo>
                    <a:pt x="12700" y="46101"/>
                  </a:moveTo>
                  <a:lnTo>
                    <a:pt x="12700" y="8845550"/>
                  </a:lnTo>
                  <a:lnTo>
                    <a:pt x="6350" y="8845550"/>
                  </a:lnTo>
                  <a:lnTo>
                    <a:pt x="12700" y="8845550"/>
                  </a:lnTo>
                  <a:cubicBezTo>
                    <a:pt x="12700" y="8863965"/>
                    <a:pt x="27686" y="8878951"/>
                    <a:pt x="46101" y="8878951"/>
                  </a:cubicBezTo>
                  <a:lnTo>
                    <a:pt x="21704681" y="8878951"/>
                  </a:lnTo>
                  <a:cubicBezTo>
                    <a:pt x="21723096" y="8878951"/>
                    <a:pt x="21738082" y="8863965"/>
                    <a:pt x="21738082" y="8845550"/>
                  </a:cubicBezTo>
                  <a:lnTo>
                    <a:pt x="21738082" y="46101"/>
                  </a:lnTo>
                  <a:cubicBezTo>
                    <a:pt x="21738082" y="27686"/>
                    <a:pt x="21723096" y="12700"/>
                    <a:pt x="21704681" y="12700"/>
                  </a:cubicBezTo>
                  <a:lnTo>
                    <a:pt x="46101" y="12700"/>
                  </a:lnTo>
                  <a:lnTo>
                    <a:pt x="46101" y="6350"/>
                  </a:lnTo>
                  <a:lnTo>
                    <a:pt x="46101" y="12700"/>
                  </a:lnTo>
                  <a:cubicBezTo>
                    <a:pt x="27686" y="12700"/>
                    <a:pt x="12700" y="27686"/>
                    <a:pt x="12700" y="46101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01762" y="2602409"/>
            <a:ext cx="16284476" cy="892374"/>
            <a:chOff x="0" y="0"/>
            <a:chExt cx="21712635" cy="11898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12682" cy="1189863"/>
            </a:xfrm>
            <a:custGeom>
              <a:avLst/>
              <a:gdLst/>
              <a:ahLst/>
              <a:cxnLst/>
              <a:rect r="r" b="b" t="t" l="l"/>
              <a:pathLst>
                <a:path h="1189863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189863"/>
                  </a:lnTo>
                  <a:lnTo>
                    <a:pt x="0" y="118986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01762" y="3494782"/>
            <a:ext cx="16284476" cy="574774"/>
            <a:chOff x="0" y="0"/>
            <a:chExt cx="21712635" cy="76636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12682" cy="766318"/>
            </a:xfrm>
            <a:custGeom>
              <a:avLst/>
              <a:gdLst/>
              <a:ahLst/>
              <a:cxnLst/>
              <a:rect r="r" b="b" t="t" l="l"/>
              <a:pathLst>
                <a:path h="7663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766318"/>
                  </a:lnTo>
                  <a:lnTo>
                    <a:pt x="0" y="766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01762" y="4069556"/>
            <a:ext cx="16284476" cy="574774"/>
            <a:chOff x="0" y="0"/>
            <a:chExt cx="21712635" cy="7663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12682" cy="766318"/>
            </a:xfrm>
            <a:custGeom>
              <a:avLst/>
              <a:gdLst/>
              <a:ahLst/>
              <a:cxnLst/>
              <a:rect r="r" b="b" t="t" l="l"/>
              <a:pathLst>
                <a:path h="7663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766318"/>
                  </a:lnTo>
                  <a:lnTo>
                    <a:pt x="0" y="7663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01762" y="4644330"/>
            <a:ext cx="16284476" cy="574774"/>
            <a:chOff x="0" y="0"/>
            <a:chExt cx="21712635" cy="7663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712682" cy="766318"/>
            </a:xfrm>
            <a:custGeom>
              <a:avLst/>
              <a:gdLst/>
              <a:ahLst/>
              <a:cxnLst/>
              <a:rect r="r" b="b" t="t" l="l"/>
              <a:pathLst>
                <a:path h="7663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766318"/>
                  </a:lnTo>
                  <a:lnTo>
                    <a:pt x="0" y="766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01762" y="5219105"/>
            <a:ext cx="16284476" cy="574774"/>
            <a:chOff x="0" y="0"/>
            <a:chExt cx="21712635" cy="76636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712682" cy="766318"/>
            </a:xfrm>
            <a:custGeom>
              <a:avLst/>
              <a:gdLst/>
              <a:ahLst/>
              <a:cxnLst/>
              <a:rect r="r" b="b" t="t" l="l"/>
              <a:pathLst>
                <a:path h="7663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766318"/>
                  </a:lnTo>
                  <a:lnTo>
                    <a:pt x="0" y="7663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01762" y="5793879"/>
            <a:ext cx="16284476" cy="574774"/>
            <a:chOff x="0" y="0"/>
            <a:chExt cx="21712635" cy="76636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712682" cy="766318"/>
            </a:xfrm>
            <a:custGeom>
              <a:avLst/>
              <a:gdLst/>
              <a:ahLst/>
              <a:cxnLst/>
              <a:rect r="r" b="b" t="t" l="l"/>
              <a:pathLst>
                <a:path h="7663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766318"/>
                  </a:lnTo>
                  <a:lnTo>
                    <a:pt x="0" y="766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01762" y="6368654"/>
            <a:ext cx="16284476" cy="574774"/>
            <a:chOff x="0" y="0"/>
            <a:chExt cx="21712635" cy="7663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712682" cy="766318"/>
            </a:xfrm>
            <a:custGeom>
              <a:avLst/>
              <a:gdLst/>
              <a:ahLst/>
              <a:cxnLst/>
              <a:rect r="r" b="b" t="t" l="l"/>
              <a:pathLst>
                <a:path h="7663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766318"/>
                  </a:lnTo>
                  <a:lnTo>
                    <a:pt x="0" y="7663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01762" y="6943427"/>
            <a:ext cx="16284476" cy="574774"/>
            <a:chOff x="0" y="0"/>
            <a:chExt cx="21712635" cy="76636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712682" cy="766318"/>
            </a:xfrm>
            <a:custGeom>
              <a:avLst/>
              <a:gdLst/>
              <a:ahLst/>
              <a:cxnLst/>
              <a:rect r="r" b="b" t="t" l="l"/>
              <a:pathLst>
                <a:path h="7663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766318"/>
                  </a:lnTo>
                  <a:lnTo>
                    <a:pt x="0" y="766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01762" y="7518201"/>
            <a:ext cx="16284476" cy="574774"/>
            <a:chOff x="0" y="0"/>
            <a:chExt cx="21712635" cy="76636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712682" cy="766318"/>
            </a:xfrm>
            <a:custGeom>
              <a:avLst/>
              <a:gdLst/>
              <a:ahLst/>
              <a:cxnLst/>
              <a:rect r="r" b="b" t="t" l="l"/>
              <a:pathLst>
                <a:path h="7663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766318"/>
                  </a:lnTo>
                  <a:lnTo>
                    <a:pt x="0" y="7663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01762" y="8092976"/>
            <a:ext cx="16284476" cy="574774"/>
            <a:chOff x="0" y="0"/>
            <a:chExt cx="21712635" cy="76636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712682" cy="766318"/>
            </a:xfrm>
            <a:custGeom>
              <a:avLst/>
              <a:gdLst/>
              <a:ahLst/>
              <a:cxnLst/>
              <a:rect r="r" b="b" t="t" l="l"/>
              <a:pathLst>
                <a:path h="7663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766318"/>
                  </a:lnTo>
                  <a:lnTo>
                    <a:pt x="0" y="766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001762" y="8667750"/>
            <a:ext cx="16284476" cy="574774"/>
            <a:chOff x="0" y="0"/>
            <a:chExt cx="21712635" cy="76636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712682" cy="766318"/>
            </a:xfrm>
            <a:custGeom>
              <a:avLst/>
              <a:gdLst/>
              <a:ahLst/>
              <a:cxnLst/>
              <a:rect r="r" b="b" t="t" l="l"/>
              <a:pathLst>
                <a:path h="7663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766318"/>
                  </a:lnTo>
                  <a:lnTo>
                    <a:pt x="0" y="7663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13530411" y="529530"/>
            <a:ext cx="4884036" cy="4114800"/>
          </a:xfrm>
          <a:custGeom>
            <a:avLst/>
            <a:gdLst/>
            <a:ahLst/>
            <a:cxnLst/>
            <a:rect r="r" b="b" t="t" l="l"/>
            <a:pathLst>
              <a:path h="4114800" w="4884036">
                <a:moveTo>
                  <a:pt x="0" y="0"/>
                </a:moveTo>
                <a:lnTo>
                  <a:pt x="4884036" y="0"/>
                </a:lnTo>
                <a:lnTo>
                  <a:pt x="48840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992238" y="996851"/>
            <a:ext cx="4961781" cy="658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5"/>
              </a:lnSpc>
            </a:pPr>
            <a:r>
              <a:rPr lang="en-US" sz="3875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CRONOGRAMA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2238" y="1985367"/>
            <a:ext cx="16303526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Plan de trabajo distribuido en 18 semanas: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01490" y="2664321"/>
            <a:ext cx="3540919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true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Actividad / Fases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48709" y="2664321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834211" y="2664321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519714" y="2664321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205216" y="2664321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S4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890719" y="2664321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576221" y="2664321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S6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261722" y="2664321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S7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947225" y="2664321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S8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632728" y="2664321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S9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318230" y="2664321"/>
            <a:ext cx="279201" cy="701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S10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003732" y="2664321"/>
            <a:ext cx="279201" cy="701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S11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689235" y="2664321"/>
            <a:ext cx="279201" cy="701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S12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374737" y="2664321"/>
            <a:ext cx="279201" cy="701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S13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060240" y="2664321"/>
            <a:ext cx="279201" cy="701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S14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745741" y="2664321"/>
            <a:ext cx="279201" cy="701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S15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431244" y="2664321"/>
            <a:ext cx="279201" cy="701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S16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6116746" y="2664321"/>
            <a:ext cx="279201" cy="701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S17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6802249" y="2664321"/>
            <a:ext cx="285601" cy="701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S18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01490" y="3556695"/>
            <a:ext cx="3540919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true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Levantamiento requerimientos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148709" y="3556695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834211" y="3556695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01490" y="4131469"/>
            <a:ext cx="3540919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true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Arquitectura + Setup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834211" y="4131469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519714" y="4131469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205216" y="4131469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01490" y="4706243"/>
            <a:ext cx="3540919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true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Backend + APIs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519714" y="4706243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205216" y="4706243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890719" y="4706243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8576221" y="4706243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201490" y="5281017"/>
            <a:ext cx="3540919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true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PWA + Interfaz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890719" y="5281017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576221" y="5281017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261722" y="5281017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947225" y="5281017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0632728" y="5281017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01490" y="5855791"/>
            <a:ext cx="3540919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true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Recorridos virtuales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261722" y="5855791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947225" y="5855791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632728" y="5855791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1318230" y="5855791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201490" y="6430566"/>
            <a:ext cx="3540919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true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Foros / Bienestar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0632728" y="6430566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1318230" y="6430566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2003732" y="6430566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2689235" y="6430566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201490" y="7005340"/>
            <a:ext cx="3540919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true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Portafolio + Reportes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2003732" y="7005340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2689235" y="7005340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3374737" y="7005340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4060240" y="7005340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201490" y="7580114"/>
            <a:ext cx="3540919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true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Pruebas + Ajustes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3374737" y="7580114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4060240" y="7580114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4745741" y="7580114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5431244" y="7580114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201490" y="8154889"/>
            <a:ext cx="3540919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true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Documentación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4745741" y="8154889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5431244" y="8154889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6116746" y="8154889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6802249" y="8154889"/>
            <a:ext cx="2856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201490" y="8729663"/>
            <a:ext cx="3540919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true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Presentación final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6116746" y="8729663"/>
            <a:ext cx="2792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6802249" y="8729663"/>
            <a:ext cx="285601" cy="38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name="Freeform 98" id="98"/>
          <p:cNvSpPr/>
          <p:nvPr/>
        </p:nvSpPr>
        <p:spPr>
          <a:xfrm flipH="false" flipV="false" rot="0">
            <a:off x="14813309" y="498897"/>
            <a:ext cx="2702692" cy="956077"/>
          </a:xfrm>
          <a:custGeom>
            <a:avLst/>
            <a:gdLst/>
            <a:ahLst/>
            <a:cxnLst/>
            <a:rect r="r" b="b" t="t" l="l"/>
            <a:pathLst>
              <a:path h="956077" w="2702692">
                <a:moveTo>
                  <a:pt x="0" y="0"/>
                </a:moveTo>
                <a:lnTo>
                  <a:pt x="2702692" y="0"/>
                </a:lnTo>
                <a:lnTo>
                  <a:pt x="2702692" y="956077"/>
                </a:lnTo>
                <a:lnTo>
                  <a:pt x="0" y="956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90005" y="3090564"/>
            <a:ext cx="5245447" cy="2087315"/>
            <a:chOff x="0" y="0"/>
            <a:chExt cx="6993930" cy="27830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94017" cy="2783078"/>
            </a:xfrm>
            <a:custGeom>
              <a:avLst/>
              <a:gdLst/>
              <a:ahLst/>
              <a:cxnLst/>
              <a:rect r="r" b="b" t="t" l="l"/>
              <a:pathLst>
                <a:path h="2783078" w="699401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2726309"/>
                  </a:lnTo>
                  <a:cubicBezTo>
                    <a:pt x="6994017" y="2757678"/>
                    <a:pt x="6968617" y="2783078"/>
                    <a:pt x="6937248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6521202" y="3160662"/>
            <a:ext cx="5245447" cy="2087315"/>
            <a:chOff x="0" y="0"/>
            <a:chExt cx="6993930" cy="27830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94017" cy="2783078"/>
            </a:xfrm>
            <a:custGeom>
              <a:avLst/>
              <a:gdLst/>
              <a:ahLst/>
              <a:cxnLst/>
              <a:rect r="r" b="b" t="t" l="l"/>
              <a:pathLst>
                <a:path h="2783078" w="699401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2726309"/>
                  </a:lnTo>
                  <a:cubicBezTo>
                    <a:pt x="6994017" y="2757678"/>
                    <a:pt x="6968617" y="2783078"/>
                    <a:pt x="6937248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050166" y="3160662"/>
            <a:ext cx="5245447" cy="2087315"/>
            <a:chOff x="0" y="0"/>
            <a:chExt cx="6993930" cy="27830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94017" cy="2783078"/>
            </a:xfrm>
            <a:custGeom>
              <a:avLst/>
              <a:gdLst/>
              <a:ahLst/>
              <a:cxnLst/>
              <a:rect r="r" b="b" t="t" l="l"/>
              <a:pathLst>
                <a:path h="2783078" w="699401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2726309"/>
                  </a:lnTo>
                  <a:cubicBezTo>
                    <a:pt x="6994017" y="2757678"/>
                    <a:pt x="6968617" y="2783078"/>
                    <a:pt x="6937248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92238" y="5531495"/>
            <a:ext cx="5245447" cy="1633686"/>
            <a:chOff x="0" y="0"/>
            <a:chExt cx="6993930" cy="21782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93890" cy="2178177"/>
            </a:xfrm>
            <a:custGeom>
              <a:avLst/>
              <a:gdLst/>
              <a:ahLst/>
              <a:cxnLst/>
              <a:rect r="r" b="b" t="t" l="l"/>
              <a:pathLst>
                <a:path h="2178177" w="6993890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2121535"/>
                  </a:lnTo>
                  <a:cubicBezTo>
                    <a:pt x="6993890" y="2152904"/>
                    <a:pt x="6968490" y="2178177"/>
                    <a:pt x="6937248" y="2178177"/>
                  </a:cubicBezTo>
                  <a:lnTo>
                    <a:pt x="56642" y="2178177"/>
                  </a:lnTo>
                  <a:cubicBezTo>
                    <a:pt x="25273" y="2178177"/>
                    <a:pt x="0" y="2152777"/>
                    <a:pt x="0" y="2121535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521202" y="5531495"/>
            <a:ext cx="5245447" cy="1633686"/>
            <a:chOff x="0" y="0"/>
            <a:chExt cx="6993930" cy="21782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93890" cy="2178177"/>
            </a:xfrm>
            <a:custGeom>
              <a:avLst/>
              <a:gdLst/>
              <a:ahLst/>
              <a:cxnLst/>
              <a:rect r="r" b="b" t="t" l="l"/>
              <a:pathLst>
                <a:path h="2178177" w="6993890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2121535"/>
                  </a:lnTo>
                  <a:cubicBezTo>
                    <a:pt x="6993890" y="2152904"/>
                    <a:pt x="6968490" y="2178177"/>
                    <a:pt x="6937248" y="2178177"/>
                  </a:cubicBezTo>
                  <a:lnTo>
                    <a:pt x="56642" y="2178177"/>
                  </a:lnTo>
                  <a:cubicBezTo>
                    <a:pt x="25273" y="2178177"/>
                    <a:pt x="0" y="2152777"/>
                    <a:pt x="0" y="2121535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2050166" y="5531495"/>
            <a:ext cx="5245447" cy="1633686"/>
            <a:chOff x="0" y="0"/>
            <a:chExt cx="6993930" cy="21782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93890" cy="2178177"/>
            </a:xfrm>
            <a:custGeom>
              <a:avLst/>
              <a:gdLst/>
              <a:ahLst/>
              <a:cxnLst/>
              <a:rect r="r" b="b" t="t" l="l"/>
              <a:pathLst>
                <a:path h="2178177" w="6993890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2121535"/>
                  </a:lnTo>
                  <a:cubicBezTo>
                    <a:pt x="6993890" y="2152904"/>
                    <a:pt x="6968490" y="2178177"/>
                    <a:pt x="6937248" y="2178177"/>
                  </a:cubicBezTo>
                  <a:lnTo>
                    <a:pt x="56642" y="2178177"/>
                  </a:lnTo>
                  <a:cubicBezTo>
                    <a:pt x="25273" y="2178177"/>
                    <a:pt x="0" y="2152777"/>
                    <a:pt x="0" y="2121535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92238" y="7448699"/>
            <a:ext cx="16303378" cy="1633686"/>
            <a:chOff x="0" y="0"/>
            <a:chExt cx="21737837" cy="21782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737828" cy="2178177"/>
            </a:xfrm>
            <a:custGeom>
              <a:avLst/>
              <a:gdLst/>
              <a:ahLst/>
              <a:cxnLst/>
              <a:rect r="r" b="b" t="t" l="l"/>
              <a:pathLst>
                <a:path h="2178177" w="21737828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21681187" y="0"/>
                  </a:lnTo>
                  <a:cubicBezTo>
                    <a:pt x="21712555" y="0"/>
                    <a:pt x="21737828" y="25400"/>
                    <a:pt x="21737828" y="56642"/>
                  </a:cubicBezTo>
                  <a:lnTo>
                    <a:pt x="21737828" y="2121535"/>
                  </a:lnTo>
                  <a:cubicBezTo>
                    <a:pt x="21737828" y="2152904"/>
                    <a:pt x="21712428" y="2178177"/>
                    <a:pt x="21681187" y="2178177"/>
                  </a:cubicBezTo>
                  <a:lnTo>
                    <a:pt x="56642" y="2178177"/>
                  </a:lnTo>
                  <a:cubicBezTo>
                    <a:pt x="25273" y="2178177"/>
                    <a:pt x="0" y="2152777"/>
                    <a:pt x="0" y="2121535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7114506" y="3190577"/>
            <a:ext cx="4116821" cy="3974604"/>
          </a:xfrm>
          <a:custGeom>
            <a:avLst/>
            <a:gdLst/>
            <a:ahLst/>
            <a:cxnLst/>
            <a:rect r="r" b="b" t="t" l="l"/>
            <a:pathLst>
              <a:path h="3974604" w="4116821">
                <a:moveTo>
                  <a:pt x="0" y="0"/>
                </a:moveTo>
                <a:lnTo>
                  <a:pt x="4116821" y="0"/>
                </a:lnTo>
                <a:lnTo>
                  <a:pt x="4116821" y="3974604"/>
                </a:lnTo>
                <a:lnTo>
                  <a:pt x="0" y="39746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92238" y="1147316"/>
            <a:ext cx="12244536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ARQUITECTURA DEL SOFTWARE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38" y="2165748"/>
            <a:ext cx="462795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Arquitectura Resumida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5755" y="3406080"/>
            <a:ext cx="1512987" cy="449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Frontend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5755" y="3961954"/>
            <a:ext cx="3994498" cy="871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HTML, CSS, JS, Bootstrap 5.3.2, Service Workers (PWA)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04720" y="3406080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Backend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04720" y="3961954"/>
            <a:ext cx="4678412" cy="42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Django + DRF (API RESTful)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33685" y="3406080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Base de Datos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33685" y="3961954"/>
            <a:ext cx="4678413" cy="42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SQLite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5755" y="5776912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Seguridad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75755" y="6171456"/>
            <a:ext cx="4678412" cy="871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JWT como autenticación principal; OAuth Google opcional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804720" y="5776912"/>
            <a:ext cx="3864471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Infraestructura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804720" y="6088782"/>
            <a:ext cx="4678412" cy="1319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Django 5.2 + Ngrok </a:t>
            </a:r>
          </a:p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Docker (QA)</a:t>
            </a:r>
          </a:p>
          <a:p>
            <a:pPr algn="l">
              <a:lnSpc>
                <a:spcPts val="3562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12333685" y="5776912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Asíncrono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33684" y="6171456"/>
            <a:ext cx="4678413" cy="42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Celery + Redis (caché)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75755" y="7694116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Documentación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75755" y="8249990"/>
            <a:ext cx="15736341" cy="42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Github - Office - Trello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4813309" y="498897"/>
            <a:ext cx="2702692" cy="956077"/>
          </a:xfrm>
          <a:custGeom>
            <a:avLst/>
            <a:gdLst/>
            <a:ahLst/>
            <a:cxnLst/>
            <a:rect r="r" b="b" t="t" l="l"/>
            <a:pathLst>
              <a:path h="956077" w="2702692">
                <a:moveTo>
                  <a:pt x="0" y="0"/>
                </a:moveTo>
                <a:lnTo>
                  <a:pt x="2702692" y="0"/>
                </a:lnTo>
                <a:lnTo>
                  <a:pt x="2702692" y="956077"/>
                </a:lnTo>
                <a:lnTo>
                  <a:pt x="0" y="956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46597" y="3047545"/>
            <a:ext cx="3965638" cy="4114800"/>
          </a:xfrm>
          <a:custGeom>
            <a:avLst/>
            <a:gdLst/>
            <a:ahLst/>
            <a:cxnLst/>
            <a:rect r="r" b="b" t="t" l="l"/>
            <a:pathLst>
              <a:path h="4114800" w="3965638">
                <a:moveTo>
                  <a:pt x="0" y="0"/>
                </a:moveTo>
                <a:lnTo>
                  <a:pt x="3965638" y="0"/>
                </a:lnTo>
                <a:lnTo>
                  <a:pt x="39656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850237" y="3363962"/>
            <a:ext cx="7088237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MODELO DE DATOS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50237" y="4637037"/>
            <a:ext cx="9445526" cy="42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Estructura de entidades y relaciones principales del sistema StudentsPoint: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13774" y="5394275"/>
            <a:ext cx="9445526" cy="221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 modelo incluye entidades clave como Users, Campuses, Routes, Photos, Forums, Posts, Comments, Reports, Portfolio y más, diseñadas para soportar todas las funcionalidades de la plataforma.</a:t>
            </a:r>
          </a:p>
          <a:p>
            <a:pPr algn="l">
              <a:lnSpc>
                <a:spcPts val="3561"/>
              </a:lnSpc>
            </a:pP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 usa SQLite por lo que el modelo de datos Entidad Relacion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813309" y="498897"/>
            <a:ext cx="2702692" cy="956077"/>
          </a:xfrm>
          <a:custGeom>
            <a:avLst/>
            <a:gdLst/>
            <a:ahLst/>
            <a:cxnLst/>
            <a:rect r="r" b="b" t="t" l="l"/>
            <a:pathLst>
              <a:path h="956077" w="2702692">
                <a:moveTo>
                  <a:pt x="0" y="0"/>
                </a:moveTo>
                <a:lnTo>
                  <a:pt x="2702692" y="0"/>
                </a:lnTo>
                <a:lnTo>
                  <a:pt x="2702692" y="956077"/>
                </a:lnTo>
                <a:lnTo>
                  <a:pt x="0" y="956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008217" y="-164058"/>
            <a:ext cx="10867922" cy="10799997"/>
          </a:xfrm>
          <a:custGeom>
            <a:avLst/>
            <a:gdLst/>
            <a:ahLst/>
            <a:cxnLst/>
            <a:rect r="r" b="b" t="t" l="l"/>
            <a:pathLst>
              <a:path h="10799997" w="10867922">
                <a:moveTo>
                  <a:pt x="0" y="0"/>
                </a:moveTo>
                <a:lnTo>
                  <a:pt x="10867922" y="0"/>
                </a:lnTo>
                <a:lnTo>
                  <a:pt x="10867922" y="10799997"/>
                </a:lnTo>
                <a:lnTo>
                  <a:pt x="0" y="107999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22777" y="1515386"/>
            <a:ext cx="9683693" cy="90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TECNOLOGÍAS UTILIZADAS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74878" y="3275503"/>
            <a:ext cx="2653456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Backend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74878" y="3944783"/>
            <a:ext cx="2653456" cy="42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Django 5.2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74878" y="4497530"/>
            <a:ext cx="265345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Django REST Framework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74878" y="5503906"/>
            <a:ext cx="2653456" cy="42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SimpleJWT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74878" y="6056654"/>
            <a:ext cx="2653456" cy="871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764" indent="-164882" lvl="1">
              <a:lnSpc>
                <a:spcPts val="3561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SQLite</a:t>
            </a:r>
          </a:p>
          <a:p>
            <a:pPr algn="l" marL="329764" indent="-164882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Pytest/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00913" y="3275503"/>
            <a:ext cx="2653456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Frontend / PWA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00913" y="3944783"/>
            <a:ext cx="265345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HTML5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00913" y="4497530"/>
            <a:ext cx="265345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CSS3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00913" y="5050278"/>
            <a:ext cx="265345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JavaScript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00913" y="5603025"/>
            <a:ext cx="265345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Bootstrap 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00913" y="6155773"/>
            <a:ext cx="265345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Service Workers + Manifest PWA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4813309" y="498897"/>
            <a:ext cx="2702692" cy="956077"/>
          </a:xfrm>
          <a:custGeom>
            <a:avLst/>
            <a:gdLst/>
            <a:ahLst/>
            <a:cxnLst/>
            <a:rect r="r" b="b" t="t" l="l"/>
            <a:pathLst>
              <a:path h="956077" w="2702692">
                <a:moveTo>
                  <a:pt x="0" y="0"/>
                </a:moveTo>
                <a:lnTo>
                  <a:pt x="2702692" y="0"/>
                </a:lnTo>
                <a:lnTo>
                  <a:pt x="2702692" y="956077"/>
                </a:lnTo>
                <a:lnTo>
                  <a:pt x="0" y="956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 descr="preencoded.png"/>
          <p:cNvSpPr/>
          <p:nvPr/>
        </p:nvSpPr>
        <p:spPr>
          <a:xfrm flipH="false" flipV="false" rot="0">
            <a:off x="1035397" y="2725257"/>
            <a:ext cx="318939" cy="318939"/>
          </a:xfrm>
          <a:custGeom>
            <a:avLst/>
            <a:gdLst/>
            <a:ahLst/>
            <a:cxnLst/>
            <a:rect r="r" b="b" t="t" l="l"/>
            <a:pathLst>
              <a:path h="318939" w="318939">
                <a:moveTo>
                  <a:pt x="0" y="0"/>
                </a:moveTo>
                <a:lnTo>
                  <a:pt x="318939" y="0"/>
                </a:lnTo>
                <a:lnTo>
                  <a:pt x="318939" y="318939"/>
                </a:lnTo>
                <a:lnTo>
                  <a:pt x="0" y="318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23" t="0" r="-8823" b="0"/>
            </a:stretch>
          </a:blipFill>
        </p:spPr>
      </p:sp>
      <p:sp>
        <p:nvSpPr>
          <p:cNvPr name="Freeform 5" id="5" descr="preencoded.png"/>
          <p:cNvSpPr/>
          <p:nvPr/>
        </p:nvSpPr>
        <p:spPr>
          <a:xfrm flipH="false" flipV="false" rot="0">
            <a:off x="1035397" y="3794885"/>
            <a:ext cx="318939" cy="318939"/>
          </a:xfrm>
          <a:custGeom>
            <a:avLst/>
            <a:gdLst/>
            <a:ahLst/>
            <a:cxnLst/>
            <a:rect r="r" b="b" t="t" l="l"/>
            <a:pathLst>
              <a:path h="318939" w="318939">
                <a:moveTo>
                  <a:pt x="0" y="0"/>
                </a:moveTo>
                <a:lnTo>
                  <a:pt x="318939" y="0"/>
                </a:lnTo>
                <a:lnTo>
                  <a:pt x="318939" y="318939"/>
                </a:lnTo>
                <a:lnTo>
                  <a:pt x="0" y="318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23" t="0" r="-8823" b="0"/>
            </a:stretch>
          </a:blipFill>
        </p:spPr>
      </p:sp>
      <p:sp>
        <p:nvSpPr>
          <p:cNvPr name="Freeform 6" id="6" descr="preencoded.png"/>
          <p:cNvSpPr/>
          <p:nvPr/>
        </p:nvSpPr>
        <p:spPr>
          <a:xfrm flipH="false" flipV="false" rot="0">
            <a:off x="1035397" y="4864512"/>
            <a:ext cx="318939" cy="318939"/>
          </a:xfrm>
          <a:custGeom>
            <a:avLst/>
            <a:gdLst/>
            <a:ahLst/>
            <a:cxnLst/>
            <a:rect r="r" b="b" t="t" l="l"/>
            <a:pathLst>
              <a:path h="318939" w="318939">
                <a:moveTo>
                  <a:pt x="0" y="0"/>
                </a:moveTo>
                <a:lnTo>
                  <a:pt x="318939" y="0"/>
                </a:lnTo>
                <a:lnTo>
                  <a:pt x="318939" y="318939"/>
                </a:lnTo>
                <a:lnTo>
                  <a:pt x="0" y="318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23" t="0" r="-8823" b="0"/>
            </a:stretch>
          </a:blipFill>
        </p:spPr>
      </p:sp>
      <p:sp>
        <p:nvSpPr>
          <p:cNvPr name="Freeform 7" id="7" descr="preencoded.png"/>
          <p:cNvSpPr/>
          <p:nvPr/>
        </p:nvSpPr>
        <p:spPr>
          <a:xfrm flipH="false" flipV="false" rot="0">
            <a:off x="1035397" y="5934140"/>
            <a:ext cx="318939" cy="318939"/>
          </a:xfrm>
          <a:custGeom>
            <a:avLst/>
            <a:gdLst/>
            <a:ahLst/>
            <a:cxnLst/>
            <a:rect r="r" b="b" t="t" l="l"/>
            <a:pathLst>
              <a:path h="318939" w="318939">
                <a:moveTo>
                  <a:pt x="0" y="0"/>
                </a:moveTo>
                <a:lnTo>
                  <a:pt x="318939" y="0"/>
                </a:lnTo>
                <a:lnTo>
                  <a:pt x="318939" y="318939"/>
                </a:lnTo>
                <a:lnTo>
                  <a:pt x="0" y="318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23" t="0" r="-8823" b="0"/>
            </a:stretch>
          </a:blipFill>
        </p:spPr>
      </p:sp>
      <p:sp>
        <p:nvSpPr>
          <p:cNvPr name="Freeform 8" id="8" descr="preencoded.png"/>
          <p:cNvSpPr/>
          <p:nvPr/>
        </p:nvSpPr>
        <p:spPr>
          <a:xfrm flipH="false" flipV="false" rot="0">
            <a:off x="992237" y="7016084"/>
            <a:ext cx="318939" cy="318939"/>
          </a:xfrm>
          <a:custGeom>
            <a:avLst/>
            <a:gdLst/>
            <a:ahLst/>
            <a:cxnLst/>
            <a:rect r="r" b="b" t="t" l="l"/>
            <a:pathLst>
              <a:path h="318939" w="318939">
                <a:moveTo>
                  <a:pt x="0" y="0"/>
                </a:moveTo>
                <a:lnTo>
                  <a:pt x="318939" y="0"/>
                </a:lnTo>
                <a:lnTo>
                  <a:pt x="318939" y="318939"/>
                </a:lnTo>
                <a:lnTo>
                  <a:pt x="0" y="318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23" t="0" r="-8823" b="0"/>
            </a:stretch>
          </a:blipFill>
        </p:spPr>
      </p:sp>
      <p:sp>
        <p:nvSpPr>
          <p:cNvPr name="Freeform 9" id="9" descr="preencoded.png"/>
          <p:cNvSpPr/>
          <p:nvPr/>
        </p:nvSpPr>
        <p:spPr>
          <a:xfrm flipH="false" flipV="false" rot="0">
            <a:off x="992237" y="8085712"/>
            <a:ext cx="318939" cy="318939"/>
          </a:xfrm>
          <a:custGeom>
            <a:avLst/>
            <a:gdLst/>
            <a:ahLst/>
            <a:cxnLst/>
            <a:rect r="r" b="b" t="t" l="l"/>
            <a:pathLst>
              <a:path h="318939" w="318939">
                <a:moveTo>
                  <a:pt x="0" y="0"/>
                </a:moveTo>
                <a:lnTo>
                  <a:pt x="318939" y="0"/>
                </a:lnTo>
                <a:lnTo>
                  <a:pt x="318939" y="318939"/>
                </a:lnTo>
                <a:lnTo>
                  <a:pt x="0" y="318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23" t="0" r="-8823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086" y="2522907"/>
            <a:ext cx="564439" cy="723640"/>
          </a:xfrm>
          <a:custGeom>
            <a:avLst/>
            <a:gdLst/>
            <a:ahLst/>
            <a:cxnLst/>
            <a:rect r="r" b="b" t="t" l="l"/>
            <a:pathLst>
              <a:path h="723640" w="564439">
                <a:moveTo>
                  <a:pt x="0" y="0"/>
                </a:moveTo>
                <a:lnTo>
                  <a:pt x="564439" y="0"/>
                </a:lnTo>
                <a:lnTo>
                  <a:pt x="564439" y="723640"/>
                </a:lnTo>
                <a:lnTo>
                  <a:pt x="0" y="7236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00486" y="3592534"/>
            <a:ext cx="723640" cy="723640"/>
          </a:xfrm>
          <a:custGeom>
            <a:avLst/>
            <a:gdLst/>
            <a:ahLst/>
            <a:cxnLst/>
            <a:rect r="r" b="b" t="t" l="l"/>
            <a:pathLst>
              <a:path h="723640" w="723640">
                <a:moveTo>
                  <a:pt x="0" y="0"/>
                </a:moveTo>
                <a:lnTo>
                  <a:pt x="723640" y="0"/>
                </a:lnTo>
                <a:lnTo>
                  <a:pt x="723640" y="723640"/>
                </a:lnTo>
                <a:lnTo>
                  <a:pt x="0" y="7236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00486" y="4668784"/>
            <a:ext cx="723640" cy="723640"/>
          </a:xfrm>
          <a:custGeom>
            <a:avLst/>
            <a:gdLst/>
            <a:ahLst/>
            <a:cxnLst/>
            <a:rect r="r" b="b" t="t" l="l"/>
            <a:pathLst>
              <a:path h="723640" w="723640">
                <a:moveTo>
                  <a:pt x="0" y="0"/>
                </a:moveTo>
                <a:lnTo>
                  <a:pt x="723640" y="0"/>
                </a:lnTo>
                <a:lnTo>
                  <a:pt x="723640" y="723640"/>
                </a:lnTo>
                <a:lnTo>
                  <a:pt x="0" y="7236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27622" y="5731789"/>
            <a:ext cx="669367" cy="723640"/>
          </a:xfrm>
          <a:custGeom>
            <a:avLst/>
            <a:gdLst/>
            <a:ahLst/>
            <a:cxnLst/>
            <a:rect r="r" b="b" t="t" l="l"/>
            <a:pathLst>
              <a:path h="723640" w="669367">
                <a:moveTo>
                  <a:pt x="0" y="0"/>
                </a:moveTo>
                <a:lnTo>
                  <a:pt x="669367" y="0"/>
                </a:lnTo>
                <a:lnTo>
                  <a:pt x="669367" y="723640"/>
                </a:lnTo>
                <a:lnTo>
                  <a:pt x="0" y="72364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22871" y="6779279"/>
            <a:ext cx="792549" cy="792549"/>
          </a:xfrm>
          <a:custGeom>
            <a:avLst/>
            <a:gdLst/>
            <a:ahLst/>
            <a:cxnLst/>
            <a:rect r="r" b="b" t="t" l="l"/>
            <a:pathLst>
              <a:path h="792549" w="792549">
                <a:moveTo>
                  <a:pt x="0" y="0"/>
                </a:moveTo>
                <a:lnTo>
                  <a:pt x="792549" y="0"/>
                </a:lnTo>
                <a:lnTo>
                  <a:pt x="792549" y="792549"/>
                </a:lnTo>
                <a:lnTo>
                  <a:pt x="0" y="79254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22871" y="7848907"/>
            <a:ext cx="869738" cy="792549"/>
          </a:xfrm>
          <a:custGeom>
            <a:avLst/>
            <a:gdLst/>
            <a:ahLst/>
            <a:cxnLst/>
            <a:rect r="r" b="b" t="t" l="l"/>
            <a:pathLst>
              <a:path h="792549" w="869738">
                <a:moveTo>
                  <a:pt x="0" y="0"/>
                </a:moveTo>
                <a:lnTo>
                  <a:pt x="869738" y="0"/>
                </a:lnTo>
                <a:lnTo>
                  <a:pt x="869738" y="792549"/>
                </a:lnTo>
                <a:lnTo>
                  <a:pt x="0" y="79254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231563" y="2153134"/>
            <a:ext cx="5389419" cy="5389419"/>
          </a:xfrm>
          <a:custGeom>
            <a:avLst/>
            <a:gdLst/>
            <a:ahLst/>
            <a:cxnLst/>
            <a:rect r="r" b="b" t="t" l="l"/>
            <a:pathLst>
              <a:path h="5389419" w="5389419">
                <a:moveTo>
                  <a:pt x="0" y="0"/>
                </a:moveTo>
                <a:lnTo>
                  <a:pt x="5389419" y="0"/>
                </a:lnTo>
                <a:lnTo>
                  <a:pt x="5389419" y="5389419"/>
                </a:lnTo>
                <a:lnTo>
                  <a:pt x="0" y="538941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92238" y="774204"/>
            <a:ext cx="9404300" cy="702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7"/>
              </a:lnSpc>
            </a:pPr>
            <a:r>
              <a:rPr lang="en-US" sz="4124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DEMOSTRACIÓN DEL RESULTADO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2238" y="1523702"/>
            <a:ext cx="6256436" cy="56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Exposición del sistema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70275" y="2687157"/>
            <a:ext cx="6140500" cy="451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762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Recorridos virtuales en DUOC Maipú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70275" y="3756785"/>
            <a:ext cx="3879205" cy="451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762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Interfaz PWA instalable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70275" y="4826412"/>
            <a:ext cx="3412331" cy="451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762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Foros entre carreras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70275" y="5896041"/>
            <a:ext cx="3410992" cy="451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762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Módulo de bienestar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327115" y="6977984"/>
            <a:ext cx="5244108" cy="451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762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Panel administrativo para foros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327115" y="8047612"/>
            <a:ext cx="9766340" cy="451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762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Portafolio editable con exportación a PDF (relleno manual)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4813309" y="498897"/>
            <a:ext cx="2702692" cy="956077"/>
          </a:xfrm>
          <a:custGeom>
            <a:avLst/>
            <a:gdLst/>
            <a:ahLst/>
            <a:cxnLst/>
            <a:rect r="r" b="b" t="t" l="l"/>
            <a:pathLst>
              <a:path h="956077" w="2702692">
                <a:moveTo>
                  <a:pt x="0" y="0"/>
                </a:moveTo>
                <a:lnTo>
                  <a:pt x="2702692" y="0"/>
                </a:lnTo>
                <a:lnTo>
                  <a:pt x="2702692" y="956077"/>
                </a:lnTo>
                <a:lnTo>
                  <a:pt x="0" y="95607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196429"/>
            <a:ext cx="7771508" cy="74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RESULTADOS OBTENIDOS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5774" y="2067074"/>
            <a:ext cx="16303526" cy="459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6"/>
              </a:lnSpc>
            </a:pPr>
            <a:r>
              <a:rPr lang="en-US" sz="234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 proyecto StudentsPoint ha culminado en un prototipo funcional/PWA instalable en entorno local con pruebas automáticas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238" y="3014811"/>
            <a:ext cx="567035" cy="567035"/>
          </a:xfrm>
          <a:custGeom>
            <a:avLst/>
            <a:gdLst/>
            <a:ahLst/>
            <a:cxnLst/>
            <a:rect r="r" b="b" t="t" l="l"/>
            <a:pathLst>
              <a:path h="567035" w="567035">
                <a:moveTo>
                  <a:pt x="0" y="0"/>
                </a:moveTo>
                <a:lnTo>
                  <a:pt x="567034" y="0"/>
                </a:lnTo>
                <a:lnTo>
                  <a:pt x="567034" y="567035"/>
                </a:lnTo>
                <a:lnTo>
                  <a:pt x="0" y="5670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666" r="0" b="-6666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42790" y="3120777"/>
            <a:ext cx="285249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b="true" sz="288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Plataforma PWA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42790" y="3525440"/>
            <a:ext cx="7159378" cy="97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4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Totalmente funcional, escalable y optimizada para la experiencia móvil.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285685" y="3014811"/>
            <a:ext cx="567035" cy="567035"/>
          </a:xfrm>
          <a:custGeom>
            <a:avLst/>
            <a:gdLst/>
            <a:ahLst/>
            <a:cxnLst/>
            <a:rect r="r" b="b" t="t" l="l"/>
            <a:pathLst>
              <a:path h="567035" w="567035">
                <a:moveTo>
                  <a:pt x="0" y="0"/>
                </a:moveTo>
                <a:lnTo>
                  <a:pt x="567035" y="0"/>
                </a:lnTo>
                <a:lnTo>
                  <a:pt x="567035" y="567035"/>
                </a:lnTo>
                <a:lnTo>
                  <a:pt x="0" y="5670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333" t="0" r="-3333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136237" y="3120777"/>
            <a:ext cx="358663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b="true" sz="288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Recorridos Virtuales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36237" y="3525440"/>
            <a:ext cx="7159526" cy="97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4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Contenido fotográfico claro y realista para una orientación efectiva en el campus.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92238" y="4819055"/>
            <a:ext cx="567035" cy="567035"/>
          </a:xfrm>
          <a:custGeom>
            <a:avLst/>
            <a:gdLst/>
            <a:ahLst/>
            <a:cxnLst/>
            <a:rect r="r" b="b" t="t" l="l"/>
            <a:pathLst>
              <a:path h="567035" w="567035">
                <a:moveTo>
                  <a:pt x="0" y="0"/>
                </a:moveTo>
                <a:lnTo>
                  <a:pt x="567034" y="0"/>
                </a:lnTo>
                <a:lnTo>
                  <a:pt x="567034" y="567035"/>
                </a:lnTo>
                <a:lnTo>
                  <a:pt x="0" y="5670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8333" r="0" b="-18333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42790" y="4925020"/>
            <a:ext cx="338208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b="true" sz="288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Arquitectura Sólida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42790" y="5329684"/>
            <a:ext cx="7159378" cy="97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4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Diseñada con patrones de la industria para garantizar estabilidad y rendimiento.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285685" y="4819055"/>
            <a:ext cx="567035" cy="567035"/>
          </a:xfrm>
          <a:custGeom>
            <a:avLst/>
            <a:gdLst/>
            <a:ahLst/>
            <a:cxnLst/>
            <a:rect r="r" b="b" t="t" l="l"/>
            <a:pathLst>
              <a:path h="567035" w="567035">
                <a:moveTo>
                  <a:pt x="0" y="0"/>
                </a:moveTo>
                <a:lnTo>
                  <a:pt x="567035" y="0"/>
                </a:lnTo>
                <a:lnTo>
                  <a:pt x="567035" y="567035"/>
                </a:lnTo>
                <a:lnTo>
                  <a:pt x="0" y="5670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8333" r="0" b="-18333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136237" y="4925020"/>
            <a:ext cx="399264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b="true" sz="288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Comunidad Estudiantil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36237" y="5329684"/>
            <a:ext cx="7159526" cy="97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4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Foros que fomentan la integración y el intercambio entre estudiantes.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992238" y="6260455"/>
            <a:ext cx="567035" cy="567035"/>
          </a:xfrm>
          <a:custGeom>
            <a:avLst/>
            <a:gdLst/>
            <a:ahLst/>
            <a:cxnLst/>
            <a:rect r="r" b="b" t="t" l="l"/>
            <a:pathLst>
              <a:path h="567035" w="567035">
                <a:moveTo>
                  <a:pt x="0" y="0"/>
                </a:moveTo>
                <a:lnTo>
                  <a:pt x="567034" y="0"/>
                </a:lnTo>
                <a:lnTo>
                  <a:pt x="567034" y="567035"/>
                </a:lnTo>
                <a:lnTo>
                  <a:pt x="0" y="56703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67500" r="0" b="-6750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842790" y="6366421"/>
            <a:ext cx="4259104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b="true" sz="288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Bienestar Personalizado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42790" y="6771085"/>
            <a:ext cx="7159378" cy="97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4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Módulos de soporte adaptados a las necesidades específicas de cada carrera + Chatbot personalizado</a:t>
            </a:r>
          </a:p>
        </p:txBody>
      </p:sp>
      <p:sp>
        <p:nvSpPr>
          <p:cNvPr name="Freeform 23" id="23" descr="preencoded.png"/>
          <p:cNvSpPr/>
          <p:nvPr/>
        </p:nvSpPr>
        <p:spPr>
          <a:xfrm flipH="false" flipV="false" rot="0">
            <a:off x="9285685" y="6260455"/>
            <a:ext cx="567035" cy="567035"/>
          </a:xfrm>
          <a:custGeom>
            <a:avLst/>
            <a:gdLst/>
            <a:ahLst/>
            <a:cxnLst/>
            <a:rect r="r" b="b" t="t" l="l"/>
            <a:pathLst>
              <a:path h="567035" w="567035">
                <a:moveTo>
                  <a:pt x="0" y="0"/>
                </a:moveTo>
                <a:lnTo>
                  <a:pt x="567035" y="0"/>
                </a:lnTo>
                <a:lnTo>
                  <a:pt x="567035" y="567035"/>
                </a:lnTo>
                <a:lnTo>
                  <a:pt x="0" y="56703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5000" t="0" r="-500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136237" y="6366421"/>
            <a:ext cx="30352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b="true" sz="288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Reportes de Foro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36237" y="6771085"/>
            <a:ext cx="7159526" cy="97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4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Modulo de administracion y moderación</a:t>
            </a:r>
            <a:r>
              <a:rPr lang="en-US" sz="244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para la gestión eficiente de los foros.</a:t>
            </a:r>
          </a:p>
        </p:txBody>
      </p:sp>
      <p:sp>
        <p:nvSpPr>
          <p:cNvPr name="Freeform 26" id="26" descr="preencoded.png"/>
          <p:cNvSpPr/>
          <p:nvPr/>
        </p:nvSpPr>
        <p:spPr>
          <a:xfrm flipH="false" flipV="false" rot="0">
            <a:off x="992238" y="7701855"/>
            <a:ext cx="567035" cy="567035"/>
          </a:xfrm>
          <a:custGeom>
            <a:avLst/>
            <a:gdLst/>
            <a:ahLst/>
            <a:cxnLst/>
            <a:rect r="r" b="b" t="t" l="l"/>
            <a:pathLst>
              <a:path h="567035" w="567035">
                <a:moveTo>
                  <a:pt x="0" y="0"/>
                </a:moveTo>
                <a:lnTo>
                  <a:pt x="567034" y="0"/>
                </a:lnTo>
                <a:lnTo>
                  <a:pt x="567034" y="567035"/>
                </a:lnTo>
                <a:lnTo>
                  <a:pt x="0" y="56703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9166" r="0" b="-9166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842790" y="7807821"/>
            <a:ext cx="3829764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b="true" sz="288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Portafolio Automático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42790" y="8212485"/>
            <a:ext cx="7159378" cy="97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4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Herramienta integrada para generar y exportar el CV del estudiante con varias plantillas predefinidas</a:t>
            </a:r>
          </a:p>
        </p:txBody>
      </p:sp>
      <p:sp>
        <p:nvSpPr>
          <p:cNvPr name="Freeform 29" id="29" descr="preencoded.png"/>
          <p:cNvSpPr/>
          <p:nvPr/>
        </p:nvSpPr>
        <p:spPr>
          <a:xfrm flipH="false" flipV="false" rot="0">
            <a:off x="9285685" y="7701855"/>
            <a:ext cx="567035" cy="567035"/>
          </a:xfrm>
          <a:custGeom>
            <a:avLst/>
            <a:gdLst/>
            <a:ahLst/>
            <a:cxnLst/>
            <a:rect r="r" b="b" t="t" l="l"/>
            <a:pathLst>
              <a:path h="567035" w="567035">
                <a:moveTo>
                  <a:pt x="0" y="0"/>
                </a:moveTo>
                <a:lnTo>
                  <a:pt x="567035" y="0"/>
                </a:lnTo>
                <a:lnTo>
                  <a:pt x="567035" y="567035"/>
                </a:lnTo>
                <a:lnTo>
                  <a:pt x="0" y="56703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3333" r="0" b="-3333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0136237" y="7807821"/>
            <a:ext cx="5908923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88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Sistema de enseñanza por cursos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136237" y="8212485"/>
            <a:ext cx="7159526" cy="97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4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Sistema para ofrecer cursos externos (Udemy u otro con links), tutorias y clases grabadas.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4813309" y="498897"/>
            <a:ext cx="2702692" cy="956077"/>
          </a:xfrm>
          <a:custGeom>
            <a:avLst/>
            <a:gdLst/>
            <a:ahLst/>
            <a:cxnLst/>
            <a:rect r="r" b="b" t="t" l="l"/>
            <a:pathLst>
              <a:path h="956077" w="2702692">
                <a:moveTo>
                  <a:pt x="0" y="0"/>
                </a:moveTo>
                <a:lnTo>
                  <a:pt x="2702692" y="0"/>
                </a:lnTo>
                <a:lnTo>
                  <a:pt x="2702692" y="956077"/>
                </a:lnTo>
                <a:lnTo>
                  <a:pt x="0" y="95607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46969" y="1852281"/>
            <a:ext cx="12675686" cy="1309301"/>
            <a:chOff x="0" y="0"/>
            <a:chExt cx="13248085" cy="13684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248132" cy="1368425"/>
            </a:xfrm>
            <a:custGeom>
              <a:avLst/>
              <a:gdLst/>
              <a:ahLst/>
              <a:cxnLst/>
              <a:rect r="r" b="b" t="t" l="l"/>
              <a:pathLst>
                <a:path h="1368425" w="13248132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126213" y="0"/>
                  </a:lnTo>
                  <a:cubicBezTo>
                    <a:pt x="13193523" y="0"/>
                    <a:pt x="13248132" y="54610"/>
                    <a:pt x="13248132" y="121920"/>
                  </a:cubicBezTo>
                  <a:lnTo>
                    <a:pt x="13248132" y="1246505"/>
                  </a:lnTo>
                  <a:cubicBezTo>
                    <a:pt x="13248132" y="1313815"/>
                    <a:pt x="13193523" y="1368425"/>
                    <a:pt x="13126213" y="1368425"/>
                  </a:cubicBezTo>
                  <a:lnTo>
                    <a:pt x="121920" y="1368425"/>
                  </a:lnTo>
                  <a:cubicBezTo>
                    <a:pt x="54610" y="1368425"/>
                    <a:pt x="0" y="1313815"/>
                    <a:pt x="0" y="1246505"/>
                  </a:cubicBez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46969" y="1827979"/>
            <a:ext cx="12675686" cy="97210"/>
            <a:chOff x="0" y="0"/>
            <a:chExt cx="13248085" cy="10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248132" cy="101600"/>
            </a:xfrm>
            <a:custGeom>
              <a:avLst/>
              <a:gdLst/>
              <a:ahLst/>
              <a:cxnLst/>
              <a:rect r="r" b="b" t="t" l="l"/>
              <a:pathLst>
                <a:path h="101600" w="13248132">
                  <a:moveTo>
                    <a:pt x="0" y="27813"/>
                  </a:moveTo>
                  <a:cubicBezTo>
                    <a:pt x="0" y="12446"/>
                    <a:pt x="12446" y="0"/>
                    <a:pt x="27813" y="0"/>
                  </a:cubicBezTo>
                  <a:lnTo>
                    <a:pt x="13220319" y="0"/>
                  </a:lnTo>
                  <a:cubicBezTo>
                    <a:pt x="13235685" y="0"/>
                    <a:pt x="13248132" y="12446"/>
                    <a:pt x="13248132" y="27813"/>
                  </a:cubicBezTo>
                  <a:lnTo>
                    <a:pt x="13248132" y="73787"/>
                  </a:lnTo>
                  <a:cubicBezTo>
                    <a:pt x="13248132" y="89154"/>
                    <a:pt x="13235685" y="101600"/>
                    <a:pt x="13220319" y="101600"/>
                  </a:cubicBezTo>
                  <a:lnTo>
                    <a:pt x="27813" y="101600"/>
                  </a:lnTo>
                  <a:cubicBezTo>
                    <a:pt x="12446" y="101600"/>
                    <a:pt x="0" y="89154"/>
                    <a:pt x="0" y="73787"/>
                  </a:cubicBezTo>
                  <a:close/>
                </a:path>
              </a:pathLst>
            </a:custGeom>
            <a:solidFill>
              <a:srgbClr val="C8CAC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6819382" y="1586853"/>
            <a:ext cx="530860" cy="530860"/>
            <a:chOff x="0" y="0"/>
            <a:chExt cx="554832" cy="5548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4863" cy="554863"/>
            </a:xfrm>
            <a:custGeom>
              <a:avLst/>
              <a:gdLst/>
              <a:ahLst/>
              <a:cxnLst/>
              <a:rect r="r" b="b" t="t" l="l"/>
              <a:pathLst>
                <a:path h="554863" w="554863">
                  <a:moveTo>
                    <a:pt x="0" y="277368"/>
                  </a:moveTo>
                  <a:cubicBezTo>
                    <a:pt x="0" y="124206"/>
                    <a:pt x="124206" y="0"/>
                    <a:pt x="277368" y="0"/>
                  </a:cubicBezTo>
                  <a:cubicBezTo>
                    <a:pt x="430530" y="0"/>
                    <a:pt x="554863" y="124206"/>
                    <a:pt x="554863" y="277368"/>
                  </a:cubicBezTo>
                  <a:cubicBezTo>
                    <a:pt x="554863" y="430530"/>
                    <a:pt x="430657" y="554863"/>
                    <a:pt x="277368" y="554863"/>
                  </a:cubicBezTo>
                  <a:cubicBezTo>
                    <a:pt x="124079" y="554863"/>
                    <a:pt x="0" y="430657"/>
                    <a:pt x="0" y="277368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0" id="10" descr="preencoded.png"/>
          <p:cNvSpPr/>
          <p:nvPr/>
        </p:nvSpPr>
        <p:spPr>
          <a:xfrm flipH="false" flipV="false" rot="0">
            <a:off x="6978677" y="1746148"/>
            <a:ext cx="212268" cy="212268"/>
          </a:xfrm>
          <a:custGeom>
            <a:avLst/>
            <a:gdLst/>
            <a:ahLst/>
            <a:cxnLst/>
            <a:rect r="r" b="b" t="t" l="l"/>
            <a:pathLst>
              <a:path h="212268" w="212268">
                <a:moveTo>
                  <a:pt x="0" y="0"/>
                </a:moveTo>
                <a:lnTo>
                  <a:pt x="212268" y="0"/>
                </a:lnTo>
                <a:lnTo>
                  <a:pt x="212268" y="212267"/>
                </a:lnTo>
                <a:lnTo>
                  <a:pt x="0" y="2122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333" r="0" b="-8333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48224" y="2256565"/>
            <a:ext cx="2868841" cy="330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8"/>
              </a:lnSpc>
            </a:pPr>
            <a:r>
              <a:rPr lang="en-US" b="true" sz="197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PWA y Http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8224" y="2610565"/>
            <a:ext cx="12273174" cy="332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1755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 necesitaba HTTPS para poder hacer funcionar el PWA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46968" y="3135947"/>
            <a:ext cx="12675686" cy="1309301"/>
            <a:chOff x="0" y="0"/>
            <a:chExt cx="13248085" cy="13684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248132" cy="1368425"/>
            </a:xfrm>
            <a:custGeom>
              <a:avLst/>
              <a:gdLst/>
              <a:ahLst/>
              <a:cxnLst/>
              <a:rect r="r" b="b" t="t" l="l"/>
              <a:pathLst>
                <a:path h="1368425" w="13248132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126213" y="0"/>
                  </a:lnTo>
                  <a:cubicBezTo>
                    <a:pt x="13193523" y="0"/>
                    <a:pt x="13248132" y="54610"/>
                    <a:pt x="13248132" y="121920"/>
                  </a:cubicBezTo>
                  <a:lnTo>
                    <a:pt x="13248132" y="1246505"/>
                  </a:lnTo>
                  <a:cubicBezTo>
                    <a:pt x="13248132" y="1313815"/>
                    <a:pt x="13193523" y="1368425"/>
                    <a:pt x="13126213" y="1368425"/>
                  </a:cubicBezTo>
                  <a:lnTo>
                    <a:pt x="121920" y="1368425"/>
                  </a:lnTo>
                  <a:cubicBezTo>
                    <a:pt x="54610" y="1368425"/>
                    <a:pt x="0" y="1313815"/>
                    <a:pt x="0" y="1246505"/>
                  </a:cubicBez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746969" y="3220538"/>
            <a:ext cx="12675686" cy="97210"/>
            <a:chOff x="0" y="0"/>
            <a:chExt cx="13248085" cy="101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248132" cy="101600"/>
            </a:xfrm>
            <a:custGeom>
              <a:avLst/>
              <a:gdLst/>
              <a:ahLst/>
              <a:cxnLst/>
              <a:rect r="r" b="b" t="t" l="l"/>
              <a:pathLst>
                <a:path h="101600" w="13248132">
                  <a:moveTo>
                    <a:pt x="0" y="27813"/>
                  </a:moveTo>
                  <a:cubicBezTo>
                    <a:pt x="0" y="12446"/>
                    <a:pt x="12446" y="0"/>
                    <a:pt x="27813" y="0"/>
                  </a:cubicBezTo>
                  <a:lnTo>
                    <a:pt x="13220319" y="0"/>
                  </a:lnTo>
                  <a:cubicBezTo>
                    <a:pt x="13235685" y="0"/>
                    <a:pt x="13248132" y="12446"/>
                    <a:pt x="13248132" y="27813"/>
                  </a:cubicBezTo>
                  <a:lnTo>
                    <a:pt x="13248132" y="73787"/>
                  </a:lnTo>
                  <a:cubicBezTo>
                    <a:pt x="13248132" y="89154"/>
                    <a:pt x="13235685" y="101600"/>
                    <a:pt x="13220319" y="101600"/>
                  </a:cubicBezTo>
                  <a:lnTo>
                    <a:pt x="27813" y="101600"/>
                  </a:lnTo>
                  <a:cubicBezTo>
                    <a:pt x="12446" y="101600"/>
                    <a:pt x="0" y="89154"/>
                    <a:pt x="0" y="73787"/>
                  </a:cubicBezTo>
                  <a:close/>
                </a:path>
              </a:pathLst>
            </a:custGeom>
            <a:solidFill>
              <a:srgbClr val="C8CAC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819382" y="2979410"/>
            <a:ext cx="530860" cy="530860"/>
            <a:chOff x="0" y="0"/>
            <a:chExt cx="554832" cy="5548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4863" cy="554863"/>
            </a:xfrm>
            <a:custGeom>
              <a:avLst/>
              <a:gdLst/>
              <a:ahLst/>
              <a:cxnLst/>
              <a:rect r="r" b="b" t="t" l="l"/>
              <a:pathLst>
                <a:path h="554863" w="554863">
                  <a:moveTo>
                    <a:pt x="0" y="277368"/>
                  </a:moveTo>
                  <a:cubicBezTo>
                    <a:pt x="0" y="124206"/>
                    <a:pt x="124206" y="0"/>
                    <a:pt x="277368" y="0"/>
                  </a:cubicBezTo>
                  <a:cubicBezTo>
                    <a:pt x="430530" y="0"/>
                    <a:pt x="554863" y="124206"/>
                    <a:pt x="554863" y="277368"/>
                  </a:cubicBezTo>
                  <a:cubicBezTo>
                    <a:pt x="554863" y="430530"/>
                    <a:pt x="430657" y="554863"/>
                    <a:pt x="277368" y="554863"/>
                  </a:cubicBezTo>
                  <a:cubicBezTo>
                    <a:pt x="124079" y="554863"/>
                    <a:pt x="0" y="430657"/>
                    <a:pt x="0" y="277368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6978677" y="3138707"/>
            <a:ext cx="212268" cy="212268"/>
          </a:xfrm>
          <a:custGeom>
            <a:avLst/>
            <a:gdLst/>
            <a:ahLst/>
            <a:cxnLst/>
            <a:rect r="r" b="b" t="t" l="l"/>
            <a:pathLst>
              <a:path h="212268" w="212268">
                <a:moveTo>
                  <a:pt x="0" y="0"/>
                </a:moveTo>
                <a:lnTo>
                  <a:pt x="212268" y="0"/>
                </a:lnTo>
                <a:lnTo>
                  <a:pt x="212268" y="212268"/>
                </a:lnTo>
                <a:lnTo>
                  <a:pt x="0" y="2122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2777" r="0" b="-2777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48223" y="3549754"/>
            <a:ext cx="2212482" cy="339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b="true" sz="207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Seguridad y UX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8223" y="3856129"/>
            <a:ext cx="12273174" cy="455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0"/>
              </a:lnSpc>
            </a:pPr>
            <a:r>
              <a:rPr lang="en-US" sz="2355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Integrar autenticación JWT y 2FA sin comprometer la fluidez y facilidad de uso para los estudiantes.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46969" y="4618056"/>
            <a:ext cx="12675686" cy="1309301"/>
            <a:chOff x="0" y="0"/>
            <a:chExt cx="13248085" cy="136842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248132" cy="1368425"/>
            </a:xfrm>
            <a:custGeom>
              <a:avLst/>
              <a:gdLst/>
              <a:ahLst/>
              <a:cxnLst/>
              <a:rect r="r" b="b" t="t" l="l"/>
              <a:pathLst>
                <a:path h="1368425" w="13248132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126213" y="0"/>
                  </a:lnTo>
                  <a:cubicBezTo>
                    <a:pt x="13193523" y="0"/>
                    <a:pt x="13248132" y="54610"/>
                    <a:pt x="13248132" y="121920"/>
                  </a:cubicBezTo>
                  <a:lnTo>
                    <a:pt x="13248132" y="1246505"/>
                  </a:lnTo>
                  <a:cubicBezTo>
                    <a:pt x="13248132" y="1313815"/>
                    <a:pt x="13193523" y="1368425"/>
                    <a:pt x="13126213" y="1368425"/>
                  </a:cubicBezTo>
                  <a:lnTo>
                    <a:pt x="121920" y="1368425"/>
                  </a:lnTo>
                  <a:cubicBezTo>
                    <a:pt x="54610" y="1368425"/>
                    <a:pt x="0" y="1313815"/>
                    <a:pt x="0" y="1246505"/>
                  </a:cubicBez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46969" y="4593754"/>
            <a:ext cx="12675686" cy="97210"/>
            <a:chOff x="0" y="0"/>
            <a:chExt cx="13248085" cy="101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248132" cy="101600"/>
            </a:xfrm>
            <a:custGeom>
              <a:avLst/>
              <a:gdLst/>
              <a:ahLst/>
              <a:cxnLst/>
              <a:rect r="r" b="b" t="t" l="l"/>
              <a:pathLst>
                <a:path h="101600" w="13248132">
                  <a:moveTo>
                    <a:pt x="0" y="27813"/>
                  </a:moveTo>
                  <a:cubicBezTo>
                    <a:pt x="0" y="12446"/>
                    <a:pt x="12446" y="0"/>
                    <a:pt x="27813" y="0"/>
                  </a:cubicBezTo>
                  <a:lnTo>
                    <a:pt x="13220319" y="0"/>
                  </a:lnTo>
                  <a:cubicBezTo>
                    <a:pt x="13235685" y="0"/>
                    <a:pt x="13248132" y="12446"/>
                    <a:pt x="13248132" y="27813"/>
                  </a:cubicBezTo>
                  <a:lnTo>
                    <a:pt x="13248132" y="73787"/>
                  </a:lnTo>
                  <a:cubicBezTo>
                    <a:pt x="13248132" y="89154"/>
                    <a:pt x="13235685" y="101600"/>
                    <a:pt x="13220319" y="101600"/>
                  </a:cubicBezTo>
                  <a:lnTo>
                    <a:pt x="27813" y="101600"/>
                  </a:lnTo>
                  <a:cubicBezTo>
                    <a:pt x="12446" y="101600"/>
                    <a:pt x="0" y="89154"/>
                    <a:pt x="0" y="73787"/>
                  </a:cubicBezTo>
                  <a:close/>
                </a:path>
              </a:pathLst>
            </a:custGeom>
            <a:solidFill>
              <a:srgbClr val="C8CAC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819382" y="4352627"/>
            <a:ext cx="530860" cy="530860"/>
            <a:chOff x="0" y="0"/>
            <a:chExt cx="554832" cy="5548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54863" cy="554863"/>
            </a:xfrm>
            <a:custGeom>
              <a:avLst/>
              <a:gdLst/>
              <a:ahLst/>
              <a:cxnLst/>
              <a:rect r="r" b="b" t="t" l="l"/>
              <a:pathLst>
                <a:path h="554863" w="554863">
                  <a:moveTo>
                    <a:pt x="0" y="277368"/>
                  </a:moveTo>
                  <a:cubicBezTo>
                    <a:pt x="0" y="124206"/>
                    <a:pt x="124206" y="0"/>
                    <a:pt x="277368" y="0"/>
                  </a:cubicBezTo>
                  <a:cubicBezTo>
                    <a:pt x="430530" y="0"/>
                    <a:pt x="554863" y="124206"/>
                    <a:pt x="554863" y="277368"/>
                  </a:cubicBezTo>
                  <a:cubicBezTo>
                    <a:pt x="554863" y="430530"/>
                    <a:pt x="430657" y="554863"/>
                    <a:pt x="277368" y="554863"/>
                  </a:cubicBezTo>
                  <a:cubicBezTo>
                    <a:pt x="124079" y="554863"/>
                    <a:pt x="0" y="430657"/>
                    <a:pt x="0" y="277368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8" id="28" descr="preencoded.png"/>
          <p:cNvSpPr/>
          <p:nvPr/>
        </p:nvSpPr>
        <p:spPr>
          <a:xfrm flipH="false" flipV="false" rot="0">
            <a:off x="6978677" y="4511923"/>
            <a:ext cx="212268" cy="212268"/>
          </a:xfrm>
          <a:custGeom>
            <a:avLst/>
            <a:gdLst/>
            <a:ahLst/>
            <a:cxnLst/>
            <a:rect r="r" b="b" t="t" l="l"/>
            <a:pathLst>
              <a:path h="212268" w="212268">
                <a:moveTo>
                  <a:pt x="0" y="0"/>
                </a:moveTo>
                <a:lnTo>
                  <a:pt x="212268" y="0"/>
                </a:lnTo>
                <a:lnTo>
                  <a:pt x="212268" y="212267"/>
                </a:lnTo>
                <a:lnTo>
                  <a:pt x="0" y="21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30555" r="0" b="-30555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948224" y="5031865"/>
            <a:ext cx="3146992" cy="339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b="true" sz="207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Fotos para Recorridos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8224" y="5357290"/>
            <a:ext cx="12273174" cy="379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5"/>
              </a:lnSpc>
            </a:pPr>
            <a:r>
              <a:rPr lang="en-US" sz="1955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Establecer un proceso eficiente para la organización y normalización de miles de fotos destinadas a los recorridos virtuales.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46969" y="5991145"/>
            <a:ext cx="12675686" cy="1309301"/>
            <a:chOff x="0" y="0"/>
            <a:chExt cx="13248085" cy="136842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248132" cy="1368425"/>
            </a:xfrm>
            <a:custGeom>
              <a:avLst/>
              <a:gdLst/>
              <a:ahLst/>
              <a:cxnLst/>
              <a:rect r="r" b="b" t="t" l="l"/>
              <a:pathLst>
                <a:path h="1368425" w="13248132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126213" y="0"/>
                  </a:lnTo>
                  <a:cubicBezTo>
                    <a:pt x="13193523" y="0"/>
                    <a:pt x="13248132" y="54610"/>
                    <a:pt x="13248132" y="121920"/>
                  </a:cubicBezTo>
                  <a:lnTo>
                    <a:pt x="13248132" y="1246505"/>
                  </a:lnTo>
                  <a:cubicBezTo>
                    <a:pt x="13248132" y="1313815"/>
                    <a:pt x="13193523" y="1368425"/>
                    <a:pt x="13126213" y="1368425"/>
                  </a:cubicBezTo>
                  <a:lnTo>
                    <a:pt x="121920" y="1368425"/>
                  </a:lnTo>
                  <a:cubicBezTo>
                    <a:pt x="54610" y="1368425"/>
                    <a:pt x="0" y="1313815"/>
                    <a:pt x="0" y="1246505"/>
                  </a:cubicBez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746969" y="5966843"/>
            <a:ext cx="12675686" cy="97210"/>
            <a:chOff x="0" y="0"/>
            <a:chExt cx="13248085" cy="101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248132" cy="101600"/>
            </a:xfrm>
            <a:custGeom>
              <a:avLst/>
              <a:gdLst/>
              <a:ahLst/>
              <a:cxnLst/>
              <a:rect r="r" b="b" t="t" l="l"/>
              <a:pathLst>
                <a:path h="101600" w="13248132">
                  <a:moveTo>
                    <a:pt x="0" y="27813"/>
                  </a:moveTo>
                  <a:cubicBezTo>
                    <a:pt x="0" y="12446"/>
                    <a:pt x="12446" y="0"/>
                    <a:pt x="27813" y="0"/>
                  </a:cubicBezTo>
                  <a:lnTo>
                    <a:pt x="13220319" y="0"/>
                  </a:lnTo>
                  <a:cubicBezTo>
                    <a:pt x="13235685" y="0"/>
                    <a:pt x="13248132" y="12446"/>
                    <a:pt x="13248132" y="27813"/>
                  </a:cubicBezTo>
                  <a:lnTo>
                    <a:pt x="13248132" y="73787"/>
                  </a:lnTo>
                  <a:cubicBezTo>
                    <a:pt x="13248132" y="89154"/>
                    <a:pt x="13235685" y="101600"/>
                    <a:pt x="13220319" y="101600"/>
                  </a:cubicBezTo>
                  <a:lnTo>
                    <a:pt x="27813" y="101600"/>
                  </a:lnTo>
                  <a:cubicBezTo>
                    <a:pt x="12446" y="101600"/>
                    <a:pt x="0" y="89154"/>
                    <a:pt x="0" y="73787"/>
                  </a:cubicBezTo>
                  <a:close/>
                </a:path>
              </a:pathLst>
            </a:custGeom>
            <a:solidFill>
              <a:srgbClr val="C8CAC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6819382" y="5725716"/>
            <a:ext cx="530860" cy="530860"/>
            <a:chOff x="0" y="0"/>
            <a:chExt cx="554832" cy="55483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54863" cy="554863"/>
            </a:xfrm>
            <a:custGeom>
              <a:avLst/>
              <a:gdLst/>
              <a:ahLst/>
              <a:cxnLst/>
              <a:rect r="r" b="b" t="t" l="l"/>
              <a:pathLst>
                <a:path h="554863" w="554863">
                  <a:moveTo>
                    <a:pt x="0" y="277368"/>
                  </a:moveTo>
                  <a:cubicBezTo>
                    <a:pt x="0" y="124206"/>
                    <a:pt x="124206" y="0"/>
                    <a:pt x="277368" y="0"/>
                  </a:cubicBezTo>
                  <a:cubicBezTo>
                    <a:pt x="430530" y="0"/>
                    <a:pt x="554863" y="124206"/>
                    <a:pt x="554863" y="277368"/>
                  </a:cubicBezTo>
                  <a:cubicBezTo>
                    <a:pt x="554863" y="430530"/>
                    <a:pt x="430657" y="554863"/>
                    <a:pt x="277368" y="554863"/>
                  </a:cubicBezTo>
                  <a:cubicBezTo>
                    <a:pt x="124079" y="554863"/>
                    <a:pt x="0" y="430657"/>
                    <a:pt x="0" y="277368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37" id="37" descr="preencoded.png"/>
          <p:cNvSpPr/>
          <p:nvPr/>
        </p:nvSpPr>
        <p:spPr>
          <a:xfrm flipH="false" flipV="false" rot="0">
            <a:off x="6978677" y="5885011"/>
            <a:ext cx="212268" cy="212268"/>
          </a:xfrm>
          <a:custGeom>
            <a:avLst/>
            <a:gdLst/>
            <a:ahLst/>
            <a:cxnLst/>
            <a:rect r="r" b="b" t="t" l="l"/>
            <a:pathLst>
              <a:path h="212268" w="212268">
                <a:moveTo>
                  <a:pt x="0" y="0"/>
                </a:moveTo>
                <a:lnTo>
                  <a:pt x="212268" y="0"/>
                </a:lnTo>
                <a:lnTo>
                  <a:pt x="212268" y="212268"/>
                </a:lnTo>
                <a:lnTo>
                  <a:pt x="0" y="2122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948224" y="6404953"/>
            <a:ext cx="2823084" cy="339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b="true" sz="207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Optimización Móvil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48224" y="6720852"/>
            <a:ext cx="12273174" cy="417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3"/>
              </a:lnSpc>
            </a:pPr>
            <a:r>
              <a:rPr lang="en-US" sz="2155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Asegurar tiempos de carga rápidos y una respuesta fluida en dispositivos móviles para una experiencia óptima.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746969" y="7364234"/>
            <a:ext cx="12675686" cy="1309301"/>
            <a:chOff x="0" y="0"/>
            <a:chExt cx="13248085" cy="136842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248132" cy="1368425"/>
            </a:xfrm>
            <a:custGeom>
              <a:avLst/>
              <a:gdLst/>
              <a:ahLst/>
              <a:cxnLst/>
              <a:rect r="r" b="b" t="t" l="l"/>
              <a:pathLst>
                <a:path h="1368425" w="13248132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126213" y="0"/>
                  </a:lnTo>
                  <a:cubicBezTo>
                    <a:pt x="13193523" y="0"/>
                    <a:pt x="13248132" y="54610"/>
                    <a:pt x="13248132" y="121920"/>
                  </a:cubicBezTo>
                  <a:lnTo>
                    <a:pt x="13248132" y="1246505"/>
                  </a:lnTo>
                  <a:cubicBezTo>
                    <a:pt x="13248132" y="1313815"/>
                    <a:pt x="13193523" y="1368425"/>
                    <a:pt x="13126213" y="1368425"/>
                  </a:cubicBezTo>
                  <a:lnTo>
                    <a:pt x="121920" y="1368425"/>
                  </a:lnTo>
                  <a:cubicBezTo>
                    <a:pt x="54610" y="1368425"/>
                    <a:pt x="0" y="1313815"/>
                    <a:pt x="0" y="1246505"/>
                  </a:cubicBez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746969" y="7339932"/>
            <a:ext cx="12675686" cy="97210"/>
            <a:chOff x="0" y="0"/>
            <a:chExt cx="13248085" cy="101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248132" cy="101600"/>
            </a:xfrm>
            <a:custGeom>
              <a:avLst/>
              <a:gdLst/>
              <a:ahLst/>
              <a:cxnLst/>
              <a:rect r="r" b="b" t="t" l="l"/>
              <a:pathLst>
                <a:path h="101600" w="13248132">
                  <a:moveTo>
                    <a:pt x="0" y="27813"/>
                  </a:moveTo>
                  <a:cubicBezTo>
                    <a:pt x="0" y="12446"/>
                    <a:pt x="12446" y="0"/>
                    <a:pt x="27813" y="0"/>
                  </a:cubicBezTo>
                  <a:lnTo>
                    <a:pt x="13220319" y="0"/>
                  </a:lnTo>
                  <a:cubicBezTo>
                    <a:pt x="13235685" y="0"/>
                    <a:pt x="13248132" y="12446"/>
                    <a:pt x="13248132" y="27813"/>
                  </a:cubicBezTo>
                  <a:lnTo>
                    <a:pt x="13248132" y="73787"/>
                  </a:lnTo>
                  <a:cubicBezTo>
                    <a:pt x="13248132" y="89154"/>
                    <a:pt x="13235685" y="101600"/>
                    <a:pt x="13220319" y="101600"/>
                  </a:cubicBezTo>
                  <a:lnTo>
                    <a:pt x="27813" y="101600"/>
                  </a:lnTo>
                  <a:cubicBezTo>
                    <a:pt x="12446" y="101600"/>
                    <a:pt x="0" y="89154"/>
                    <a:pt x="0" y="73787"/>
                  </a:cubicBezTo>
                  <a:close/>
                </a:path>
              </a:pathLst>
            </a:custGeom>
            <a:solidFill>
              <a:srgbClr val="C8CAC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6819382" y="7098804"/>
            <a:ext cx="530860" cy="530860"/>
            <a:chOff x="0" y="0"/>
            <a:chExt cx="554832" cy="55483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54863" cy="554863"/>
            </a:xfrm>
            <a:custGeom>
              <a:avLst/>
              <a:gdLst/>
              <a:ahLst/>
              <a:cxnLst/>
              <a:rect r="r" b="b" t="t" l="l"/>
              <a:pathLst>
                <a:path h="554863" w="554863">
                  <a:moveTo>
                    <a:pt x="0" y="277368"/>
                  </a:moveTo>
                  <a:cubicBezTo>
                    <a:pt x="0" y="124206"/>
                    <a:pt x="124206" y="0"/>
                    <a:pt x="277368" y="0"/>
                  </a:cubicBezTo>
                  <a:cubicBezTo>
                    <a:pt x="430530" y="0"/>
                    <a:pt x="554863" y="124206"/>
                    <a:pt x="554863" y="277368"/>
                  </a:cubicBezTo>
                  <a:cubicBezTo>
                    <a:pt x="554863" y="430530"/>
                    <a:pt x="430657" y="554863"/>
                    <a:pt x="277368" y="554863"/>
                  </a:cubicBezTo>
                  <a:cubicBezTo>
                    <a:pt x="124079" y="554863"/>
                    <a:pt x="0" y="430657"/>
                    <a:pt x="0" y="277368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6" id="46" descr="preencoded.png"/>
          <p:cNvSpPr/>
          <p:nvPr/>
        </p:nvSpPr>
        <p:spPr>
          <a:xfrm flipH="false" flipV="false" rot="0">
            <a:off x="6978677" y="7258100"/>
            <a:ext cx="212268" cy="212268"/>
          </a:xfrm>
          <a:custGeom>
            <a:avLst/>
            <a:gdLst/>
            <a:ahLst/>
            <a:cxnLst/>
            <a:rect r="r" b="b" t="t" l="l"/>
            <a:pathLst>
              <a:path h="212268" w="212268">
                <a:moveTo>
                  <a:pt x="0" y="0"/>
                </a:moveTo>
                <a:lnTo>
                  <a:pt x="212268" y="0"/>
                </a:lnTo>
                <a:lnTo>
                  <a:pt x="212268" y="212268"/>
                </a:lnTo>
                <a:lnTo>
                  <a:pt x="0" y="21226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948224" y="7778041"/>
            <a:ext cx="3347868" cy="357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5"/>
              </a:lnSpc>
            </a:pPr>
            <a:r>
              <a:rPr lang="en-US" b="true" sz="217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Integración de Módulos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48224" y="8103466"/>
            <a:ext cx="12273174" cy="379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5"/>
              </a:lnSpc>
            </a:pPr>
            <a:r>
              <a:rPr lang="en-US" sz="1955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Coordinar la integración de múltiples funcionalidades (foros, bienestar, reportes, portafolio) en una plataforma unificada.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746969" y="8737321"/>
            <a:ext cx="12675686" cy="1309301"/>
            <a:chOff x="0" y="0"/>
            <a:chExt cx="13248085" cy="136842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248132" cy="1368425"/>
            </a:xfrm>
            <a:custGeom>
              <a:avLst/>
              <a:gdLst/>
              <a:ahLst/>
              <a:cxnLst/>
              <a:rect r="r" b="b" t="t" l="l"/>
              <a:pathLst>
                <a:path h="1368425" w="13248132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126213" y="0"/>
                  </a:lnTo>
                  <a:cubicBezTo>
                    <a:pt x="13193523" y="0"/>
                    <a:pt x="13248132" y="54610"/>
                    <a:pt x="13248132" y="121920"/>
                  </a:cubicBezTo>
                  <a:lnTo>
                    <a:pt x="13248132" y="1246505"/>
                  </a:lnTo>
                  <a:cubicBezTo>
                    <a:pt x="13248132" y="1313815"/>
                    <a:pt x="13193523" y="1368425"/>
                    <a:pt x="13126213" y="1368425"/>
                  </a:cubicBezTo>
                  <a:lnTo>
                    <a:pt x="121920" y="1368425"/>
                  </a:lnTo>
                  <a:cubicBezTo>
                    <a:pt x="54610" y="1368425"/>
                    <a:pt x="0" y="1313815"/>
                    <a:pt x="0" y="1246505"/>
                  </a:cubicBez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746969" y="8713019"/>
            <a:ext cx="12675686" cy="97210"/>
            <a:chOff x="0" y="0"/>
            <a:chExt cx="13248085" cy="101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248132" cy="101600"/>
            </a:xfrm>
            <a:custGeom>
              <a:avLst/>
              <a:gdLst/>
              <a:ahLst/>
              <a:cxnLst/>
              <a:rect r="r" b="b" t="t" l="l"/>
              <a:pathLst>
                <a:path h="101600" w="13248132">
                  <a:moveTo>
                    <a:pt x="0" y="27813"/>
                  </a:moveTo>
                  <a:cubicBezTo>
                    <a:pt x="0" y="12446"/>
                    <a:pt x="12446" y="0"/>
                    <a:pt x="27813" y="0"/>
                  </a:cubicBezTo>
                  <a:lnTo>
                    <a:pt x="13220319" y="0"/>
                  </a:lnTo>
                  <a:cubicBezTo>
                    <a:pt x="13235685" y="0"/>
                    <a:pt x="13248132" y="12446"/>
                    <a:pt x="13248132" y="27813"/>
                  </a:cubicBezTo>
                  <a:lnTo>
                    <a:pt x="13248132" y="73787"/>
                  </a:lnTo>
                  <a:cubicBezTo>
                    <a:pt x="13248132" y="89154"/>
                    <a:pt x="13235685" y="101600"/>
                    <a:pt x="13220319" y="101600"/>
                  </a:cubicBezTo>
                  <a:lnTo>
                    <a:pt x="27813" y="101600"/>
                  </a:lnTo>
                  <a:cubicBezTo>
                    <a:pt x="12446" y="101600"/>
                    <a:pt x="0" y="89154"/>
                    <a:pt x="0" y="73787"/>
                  </a:cubicBezTo>
                  <a:close/>
                </a:path>
              </a:pathLst>
            </a:custGeom>
            <a:solidFill>
              <a:srgbClr val="C8CAC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6819382" y="8471892"/>
            <a:ext cx="530860" cy="530860"/>
            <a:chOff x="0" y="0"/>
            <a:chExt cx="554832" cy="55483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54863" cy="554863"/>
            </a:xfrm>
            <a:custGeom>
              <a:avLst/>
              <a:gdLst/>
              <a:ahLst/>
              <a:cxnLst/>
              <a:rect r="r" b="b" t="t" l="l"/>
              <a:pathLst>
                <a:path h="554863" w="554863">
                  <a:moveTo>
                    <a:pt x="0" y="277368"/>
                  </a:moveTo>
                  <a:cubicBezTo>
                    <a:pt x="0" y="124206"/>
                    <a:pt x="124206" y="0"/>
                    <a:pt x="277368" y="0"/>
                  </a:cubicBezTo>
                  <a:cubicBezTo>
                    <a:pt x="430530" y="0"/>
                    <a:pt x="554863" y="124206"/>
                    <a:pt x="554863" y="277368"/>
                  </a:cubicBezTo>
                  <a:cubicBezTo>
                    <a:pt x="554863" y="430530"/>
                    <a:pt x="430657" y="554863"/>
                    <a:pt x="277368" y="554863"/>
                  </a:cubicBezTo>
                  <a:cubicBezTo>
                    <a:pt x="124079" y="554863"/>
                    <a:pt x="0" y="430657"/>
                    <a:pt x="0" y="277368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5" id="55" descr="preencoded.png"/>
          <p:cNvSpPr/>
          <p:nvPr/>
        </p:nvSpPr>
        <p:spPr>
          <a:xfrm flipH="false" flipV="false" rot="0">
            <a:off x="6978677" y="8631188"/>
            <a:ext cx="212268" cy="212268"/>
          </a:xfrm>
          <a:custGeom>
            <a:avLst/>
            <a:gdLst/>
            <a:ahLst/>
            <a:cxnLst/>
            <a:rect r="r" b="b" t="t" l="l"/>
            <a:pathLst>
              <a:path h="212268" w="212268">
                <a:moveTo>
                  <a:pt x="0" y="0"/>
                </a:moveTo>
                <a:lnTo>
                  <a:pt x="212268" y="0"/>
                </a:lnTo>
                <a:lnTo>
                  <a:pt x="212268" y="212267"/>
                </a:lnTo>
                <a:lnTo>
                  <a:pt x="0" y="21226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948224" y="9151130"/>
            <a:ext cx="2541327" cy="357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5"/>
              </a:lnSpc>
            </a:pPr>
            <a:r>
              <a:rPr lang="en-US" b="true" sz="217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Despliegue Seguro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48224" y="9457505"/>
            <a:ext cx="12273174" cy="469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455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 tuvo que usar Ngrok como tunel HTPPS y para proveer un certificado SSL valido</a:t>
            </a:r>
          </a:p>
        </p:txBody>
      </p:sp>
      <p:sp>
        <p:nvSpPr>
          <p:cNvPr name="Freeform 58" id="58"/>
          <p:cNvSpPr/>
          <p:nvPr/>
        </p:nvSpPr>
        <p:spPr>
          <a:xfrm flipH="false" flipV="false" rot="4018258">
            <a:off x="11448133" y="4102142"/>
            <a:ext cx="8043814" cy="2091392"/>
          </a:xfrm>
          <a:custGeom>
            <a:avLst/>
            <a:gdLst/>
            <a:ahLst/>
            <a:cxnLst/>
            <a:rect r="r" b="b" t="t" l="l"/>
            <a:pathLst>
              <a:path h="2091392" w="8043814">
                <a:moveTo>
                  <a:pt x="0" y="0"/>
                </a:moveTo>
                <a:lnTo>
                  <a:pt x="8043814" y="0"/>
                </a:lnTo>
                <a:lnTo>
                  <a:pt x="8043814" y="2091392"/>
                </a:lnTo>
                <a:lnTo>
                  <a:pt x="0" y="209139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746969" y="558403"/>
            <a:ext cx="5289054" cy="462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OBSTÁCULOS PRESENTADOS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46969" y="1161901"/>
            <a:ext cx="12675686" cy="30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1"/>
              </a:lnSpc>
            </a:pPr>
            <a:r>
              <a:rPr lang="en-US" sz="1562" b="true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En el desarrollo de StudentsPoint, enfrentamos y superamos diversos desafíos técnicos y de implementación para asegurar una plataforma robusta y eficiente:</a:t>
            </a:r>
          </a:p>
        </p:txBody>
      </p:sp>
      <p:sp>
        <p:nvSpPr>
          <p:cNvPr name="Freeform 61" id="61"/>
          <p:cNvSpPr/>
          <p:nvPr/>
        </p:nvSpPr>
        <p:spPr>
          <a:xfrm flipH="false" flipV="false" rot="0">
            <a:off x="14813309" y="498897"/>
            <a:ext cx="2702692" cy="956077"/>
          </a:xfrm>
          <a:custGeom>
            <a:avLst/>
            <a:gdLst/>
            <a:ahLst/>
            <a:cxnLst/>
            <a:rect r="r" b="b" t="t" l="l"/>
            <a:pathLst>
              <a:path h="956077" w="2702692">
                <a:moveTo>
                  <a:pt x="0" y="0"/>
                </a:moveTo>
                <a:lnTo>
                  <a:pt x="2702692" y="0"/>
                </a:lnTo>
                <a:lnTo>
                  <a:pt x="2702692" y="956077"/>
                </a:lnTo>
                <a:lnTo>
                  <a:pt x="0" y="95607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" y="3571"/>
            <a:ext cx="18288000" cy="10287000"/>
            <a:chOff x="0" y="0"/>
            <a:chExt cx="2438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3571"/>
            <a:ext cx="18288000" cy="10287000"/>
            <a:chOff x="0" y="0"/>
            <a:chExt cx="2438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>
                <a:alpha val="72157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4203947"/>
            <a:ext cx="11262271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PREGUNTAS DE LA COMISIÓN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7" y="5477024"/>
            <a:ext cx="10111959" cy="42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Estamos listos para resolver cualquier duda y profundizar en los detalles de StudentsPoint.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813309" y="498897"/>
            <a:ext cx="2702692" cy="956077"/>
          </a:xfrm>
          <a:custGeom>
            <a:avLst/>
            <a:gdLst/>
            <a:ahLst/>
            <a:cxnLst/>
            <a:rect r="r" b="b" t="t" l="l"/>
            <a:pathLst>
              <a:path h="956077" w="2702692">
                <a:moveTo>
                  <a:pt x="0" y="0"/>
                </a:moveTo>
                <a:lnTo>
                  <a:pt x="2702692" y="0"/>
                </a:lnTo>
                <a:lnTo>
                  <a:pt x="2702692" y="956077"/>
                </a:lnTo>
                <a:lnTo>
                  <a:pt x="0" y="956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DAG5P8-L-IY</dc:identifier>
  <dcterms:modified xsi:type="dcterms:W3CDTF">2011-08-01T06:04:30Z</dcterms:modified>
  <cp:revision>1</cp:revision>
  <dc:title>PROYECTO-STUDENTSPOINT.pptx</dc:title>
</cp:coreProperties>
</file>