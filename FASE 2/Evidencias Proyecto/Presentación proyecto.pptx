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Arimo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XveM8JPgzaFn83547ww4ztRpd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9" name="Google Shape;9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2" name="Google Shape;10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0" name="Google Shape;120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23" name="Google Shape;123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4" name="Google Shape;13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37" name="Google Shape;13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7" name="Google Shape;167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69" name="Google Shape;169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208" name="Google Shape;20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0" name="Google Shape;220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22" name="Google Shape;222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2" name="Google Shape;242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3" name="Google Shape;243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245" name="Google Shape;245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6" name="Google Shape;246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3" name="Google Shape;263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4" name="Google Shape;264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266" name="Google Shape;266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7" name="Google Shape;287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8" name="Google Shape;288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290" name="Google Shape;290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1" name="Google Shape;291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0" name="Google Shape;31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1" name="Google Shape;31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313" name="Google Shape;31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descr="preencoded.png" id="94" name="Google Shape;94;p1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1047155" y="2204442"/>
            <a:ext cx="9335691" cy="3577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Student-Point: Transformando la Experiencia Universitaria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47155" y="6106566"/>
            <a:ext cx="9335691" cy="1918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Una plataforma digital que conecta a los estudiantes con su entorno, sus pares y sus metas desde el primer día.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descr="preencoded.png" id="107" name="Google Shape;107;p2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 txBox="1"/>
          <p:nvPr/>
        </p:nvSpPr>
        <p:spPr>
          <a:xfrm>
            <a:off x="7905155" y="906661"/>
            <a:ext cx="3168254" cy="415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6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7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El Problema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905155" y="1381720"/>
            <a:ext cx="9335691" cy="1631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3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Desorientación y Desconexión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905155" y="3647182"/>
            <a:ext cx="4499521" cy="793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74%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013650" y="4758035"/>
            <a:ext cx="4282529" cy="415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6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Visitantes desorientados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905155" y="5239345"/>
            <a:ext cx="4499521" cy="138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3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Los visitantes de centros comerciales se sienten desorientados al llegar por primera vez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2741176" y="3647182"/>
            <a:ext cx="4499670" cy="793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52%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3011001" y="4758035"/>
            <a:ext cx="3959870" cy="415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6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Deserción universitaria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2741176" y="5239345"/>
            <a:ext cx="4499670" cy="956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3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 los estudiantes en Chile no termina su carrera universitaria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7905155" y="6815286"/>
            <a:ext cx="9335691" cy="1191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5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5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En universidades, esta desorientación se traduce en ansiedad, aislamiento y baja retención.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905155" y="8382149"/>
            <a:ext cx="9335691" cy="941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5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7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Pregunta clave:</a:t>
            </a:r>
            <a:r>
              <a:rPr b="1" i="0" lang="en-US" sz="293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¿Por qué? Falta de conexión emocional, académica y social.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127" name="Google Shape;12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descr="preencoded.png" id="128" name="Google Shape;128;p3"/>
          <p:cNvSpPr/>
          <p:nvPr/>
        </p:nvSpPr>
        <p:spPr>
          <a:xfrm>
            <a:off x="9144000" y="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3"/>
          <p:cNvSpPr txBox="1"/>
          <p:nvPr/>
        </p:nvSpPr>
        <p:spPr>
          <a:xfrm>
            <a:off x="1047155" y="986135"/>
            <a:ext cx="2640211" cy="349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Nuestra Misión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047155" y="1614487"/>
            <a:ext cx="7049691" cy="6432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87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Crear una plataforma</a:t>
            </a:r>
            <a:r>
              <a:rPr b="1" i="0" lang="en-US" sz="568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que transforme la experiencia universitaria desde el primer día.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047155" y="8279160"/>
            <a:ext cx="7049691" cy="10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Objetivo:</a:t>
            </a:r>
            <a:r>
              <a:rPr b="0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Conectar a los estudiantes con su entorno, sus pares y sus metas.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141" name="Google Shape;14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descr="preencoded.png" id="142" name="Google Shape;142;p4"/>
          <p:cNvSpPr/>
          <p:nvPr/>
        </p:nvSpPr>
        <p:spPr>
          <a:xfrm>
            <a:off x="0" y="0"/>
            <a:ext cx="6858000" cy="10289381"/>
          </a:xfrm>
          <a:custGeom>
            <a:rect b="b" l="l" r="r" t="t"/>
            <a:pathLst>
              <a:path extrusionOk="0" h="13719175" w="9144000">
                <a:moveTo>
                  <a:pt x="0" y="0"/>
                </a:moveTo>
                <a:lnTo>
                  <a:pt x="9144000" y="0"/>
                </a:lnTo>
                <a:lnTo>
                  <a:pt x="9144000" y="13719175"/>
                </a:lnTo>
                <a:lnTo>
                  <a:pt x="0" y="13719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" r="-9" t="0"/>
            </a:stretch>
          </a:blipFill>
          <a:ln>
            <a:noFill/>
          </a:ln>
        </p:spPr>
      </p:sp>
      <p:sp>
        <p:nvSpPr>
          <p:cNvPr id="143" name="Google Shape;143;p4"/>
          <p:cNvSpPr txBox="1"/>
          <p:nvPr/>
        </p:nvSpPr>
        <p:spPr>
          <a:xfrm>
            <a:off x="7873305" y="759619"/>
            <a:ext cx="5756970" cy="5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3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¿Qué es </a:t>
            </a:r>
            <a:r>
              <a:rPr b="1" i="0" lang="en-US" sz="3437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Student-Point</a:t>
            </a:r>
            <a:r>
              <a:rPr b="1" i="0" lang="en-US" sz="343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873305" y="1635026"/>
            <a:ext cx="9399366" cy="1822799"/>
          </a:xfrm>
          <a:custGeom>
            <a:rect b="b" l="l" r="r" t="t"/>
            <a:pathLst>
              <a:path extrusionOk="0" h="2430399" w="12532487">
                <a:moveTo>
                  <a:pt x="0" y="37719"/>
                </a:moveTo>
                <a:cubicBezTo>
                  <a:pt x="0" y="16891"/>
                  <a:pt x="16891" y="0"/>
                  <a:pt x="37719" y="0"/>
                </a:cubicBezTo>
                <a:lnTo>
                  <a:pt x="12494768" y="0"/>
                </a:lnTo>
                <a:cubicBezTo>
                  <a:pt x="12515597" y="0"/>
                  <a:pt x="12532487" y="16891"/>
                  <a:pt x="12532487" y="37719"/>
                </a:cubicBezTo>
                <a:lnTo>
                  <a:pt x="12532487" y="2392680"/>
                </a:lnTo>
                <a:cubicBezTo>
                  <a:pt x="12532487" y="2413508"/>
                  <a:pt x="12515597" y="2430399"/>
                  <a:pt x="12494768" y="2430399"/>
                </a:cubicBezTo>
                <a:lnTo>
                  <a:pt x="37719" y="2430399"/>
                </a:lnTo>
                <a:cubicBezTo>
                  <a:pt x="16891" y="2430399"/>
                  <a:pt x="0" y="2413508"/>
                  <a:pt x="0" y="2392680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8061723" y="1823442"/>
            <a:ext cx="565499" cy="565594"/>
          </a:xfrm>
          <a:custGeom>
            <a:rect b="b" l="l" r="r" t="t"/>
            <a:pathLst>
              <a:path extrusionOk="0" h="754126" w="753999">
                <a:moveTo>
                  <a:pt x="0" y="377063"/>
                </a:moveTo>
                <a:cubicBezTo>
                  <a:pt x="0" y="168783"/>
                  <a:pt x="168783" y="0"/>
                  <a:pt x="377063" y="0"/>
                </a:cubicBezTo>
                <a:cubicBezTo>
                  <a:pt x="585343" y="0"/>
                  <a:pt x="753999" y="168783"/>
                  <a:pt x="753999" y="377063"/>
                </a:cubicBezTo>
                <a:cubicBezTo>
                  <a:pt x="753999" y="585343"/>
                  <a:pt x="585216" y="754126"/>
                  <a:pt x="376936" y="754126"/>
                </a:cubicBezTo>
                <a:cubicBezTo>
                  <a:pt x="168656" y="754126"/>
                  <a:pt x="0" y="585216"/>
                  <a:pt x="0" y="377063"/>
                </a:cubicBezTo>
                <a:close/>
              </a:path>
            </a:pathLst>
          </a:cu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6" name="Google Shape;146;p4"/>
          <p:cNvSpPr/>
          <p:nvPr/>
        </p:nvSpPr>
        <p:spPr>
          <a:xfrm>
            <a:off x="8217248" y="1978967"/>
            <a:ext cx="254496" cy="254496"/>
          </a:xfrm>
          <a:custGeom>
            <a:rect b="b" l="l" r="r" t="t"/>
            <a:pathLst>
              <a:path extrusionOk="0" h="254496" w="254496">
                <a:moveTo>
                  <a:pt x="0" y="0"/>
                </a:moveTo>
                <a:lnTo>
                  <a:pt x="254496" y="0"/>
                </a:lnTo>
                <a:lnTo>
                  <a:pt x="254496" y="254497"/>
                </a:lnTo>
                <a:lnTo>
                  <a:pt x="0" y="25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4813" r="-14812" t="0"/>
            </a:stretch>
          </a:blipFill>
          <a:ln>
            <a:noFill/>
          </a:ln>
        </p:spPr>
      </p:sp>
      <p:sp>
        <p:nvSpPr>
          <p:cNvPr id="147" name="Google Shape;147;p4"/>
          <p:cNvSpPr txBox="1"/>
          <p:nvPr/>
        </p:nvSpPr>
        <p:spPr>
          <a:xfrm>
            <a:off x="8061723" y="2548830"/>
            <a:ext cx="2231678" cy="305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Plataforma Digital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061723" y="2901106"/>
            <a:ext cx="9022556" cy="3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Web + PWA que centraliza recursos académicos y de bienestar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873305" y="3646289"/>
            <a:ext cx="9399366" cy="1822799"/>
          </a:xfrm>
          <a:custGeom>
            <a:rect b="b" l="l" r="r" t="t"/>
            <a:pathLst>
              <a:path extrusionOk="0" h="2430399" w="12532487">
                <a:moveTo>
                  <a:pt x="0" y="37719"/>
                </a:moveTo>
                <a:cubicBezTo>
                  <a:pt x="0" y="16891"/>
                  <a:pt x="16891" y="0"/>
                  <a:pt x="37719" y="0"/>
                </a:cubicBezTo>
                <a:lnTo>
                  <a:pt x="12494768" y="0"/>
                </a:lnTo>
                <a:cubicBezTo>
                  <a:pt x="12515597" y="0"/>
                  <a:pt x="12532487" y="16891"/>
                  <a:pt x="12532487" y="37719"/>
                </a:cubicBezTo>
                <a:lnTo>
                  <a:pt x="12532487" y="2392680"/>
                </a:lnTo>
                <a:cubicBezTo>
                  <a:pt x="12532487" y="2413508"/>
                  <a:pt x="12515597" y="2430399"/>
                  <a:pt x="12494768" y="2430399"/>
                </a:cubicBezTo>
                <a:lnTo>
                  <a:pt x="37719" y="2430399"/>
                </a:lnTo>
                <a:cubicBezTo>
                  <a:pt x="16891" y="2430399"/>
                  <a:pt x="0" y="2413508"/>
                  <a:pt x="0" y="2392680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8061723" y="3834705"/>
            <a:ext cx="565499" cy="565594"/>
          </a:xfrm>
          <a:custGeom>
            <a:rect b="b" l="l" r="r" t="t"/>
            <a:pathLst>
              <a:path extrusionOk="0" h="754126" w="753999">
                <a:moveTo>
                  <a:pt x="0" y="377063"/>
                </a:moveTo>
                <a:cubicBezTo>
                  <a:pt x="0" y="168783"/>
                  <a:pt x="168783" y="0"/>
                  <a:pt x="377063" y="0"/>
                </a:cubicBezTo>
                <a:cubicBezTo>
                  <a:pt x="585343" y="0"/>
                  <a:pt x="753999" y="168783"/>
                  <a:pt x="753999" y="377063"/>
                </a:cubicBezTo>
                <a:cubicBezTo>
                  <a:pt x="753999" y="585343"/>
                  <a:pt x="585216" y="754126"/>
                  <a:pt x="376936" y="754126"/>
                </a:cubicBezTo>
                <a:cubicBezTo>
                  <a:pt x="168656" y="754126"/>
                  <a:pt x="0" y="585216"/>
                  <a:pt x="0" y="377063"/>
                </a:cubicBezTo>
                <a:close/>
              </a:path>
            </a:pathLst>
          </a:cu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51" name="Google Shape;151;p4"/>
          <p:cNvSpPr/>
          <p:nvPr/>
        </p:nvSpPr>
        <p:spPr>
          <a:xfrm>
            <a:off x="8217248" y="3990231"/>
            <a:ext cx="254496" cy="254496"/>
          </a:xfrm>
          <a:custGeom>
            <a:rect b="b" l="l" r="r" t="t"/>
            <a:pathLst>
              <a:path extrusionOk="0" h="254496" w="254496">
                <a:moveTo>
                  <a:pt x="0" y="0"/>
                </a:moveTo>
                <a:lnTo>
                  <a:pt x="254496" y="0"/>
                </a:lnTo>
                <a:lnTo>
                  <a:pt x="254496" y="254497"/>
                </a:lnTo>
                <a:lnTo>
                  <a:pt x="0" y="25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702" r="-3702" t="0"/>
            </a:stretch>
          </a:blipFill>
          <a:ln>
            <a:noFill/>
          </a:ln>
        </p:spPr>
      </p:sp>
      <p:sp>
        <p:nvSpPr>
          <p:cNvPr id="152" name="Google Shape;152;p4"/>
          <p:cNvSpPr txBox="1"/>
          <p:nvPr/>
        </p:nvSpPr>
        <p:spPr>
          <a:xfrm>
            <a:off x="8061723" y="4560094"/>
            <a:ext cx="2218284" cy="305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Recorrido Virtual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8061723" y="4912370"/>
            <a:ext cx="9022556" cy="3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Ofrece un recorrido virtual del campus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7873305" y="5657552"/>
            <a:ext cx="9399366" cy="1822799"/>
          </a:xfrm>
          <a:custGeom>
            <a:rect b="b" l="l" r="r" t="t"/>
            <a:pathLst>
              <a:path extrusionOk="0" h="2430399" w="12532487">
                <a:moveTo>
                  <a:pt x="0" y="37719"/>
                </a:moveTo>
                <a:cubicBezTo>
                  <a:pt x="0" y="16891"/>
                  <a:pt x="16891" y="0"/>
                  <a:pt x="37719" y="0"/>
                </a:cubicBezTo>
                <a:lnTo>
                  <a:pt x="12494768" y="0"/>
                </a:lnTo>
                <a:cubicBezTo>
                  <a:pt x="12515597" y="0"/>
                  <a:pt x="12532487" y="16891"/>
                  <a:pt x="12532487" y="37719"/>
                </a:cubicBezTo>
                <a:lnTo>
                  <a:pt x="12532487" y="2392680"/>
                </a:lnTo>
                <a:cubicBezTo>
                  <a:pt x="12532487" y="2413508"/>
                  <a:pt x="12515597" y="2430399"/>
                  <a:pt x="12494768" y="2430399"/>
                </a:cubicBezTo>
                <a:lnTo>
                  <a:pt x="37719" y="2430399"/>
                </a:lnTo>
                <a:cubicBezTo>
                  <a:pt x="16891" y="2430399"/>
                  <a:pt x="0" y="2413508"/>
                  <a:pt x="0" y="2392680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8061723" y="5845969"/>
            <a:ext cx="565499" cy="565594"/>
          </a:xfrm>
          <a:custGeom>
            <a:rect b="b" l="l" r="r" t="t"/>
            <a:pathLst>
              <a:path extrusionOk="0" h="754126" w="753999">
                <a:moveTo>
                  <a:pt x="0" y="377063"/>
                </a:moveTo>
                <a:cubicBezTo>
                  <a:pt x="0" y="168783"/>
                  <a:pt x="168783" y="0"/>
                  <a:pt x="377063" y="0"/>
                </a:cubicBezTo>
                <a:cubicBezTo>
                  <a:pt x="585343" y="0"/>
                  <a:pt x="753999" y="168783"/>
                  <a:pt x="753999" y="377063"/>
                </a:cubicBezTo>
                <a:cubicBezTo>
                  <a:pt x="753999" y="585343"/>
                  <a:pt x="585216" y="754126"/>
                  <a:pt x="376936" y="754126"/>
                </a:cubicBezTo>
                <a:cubicBezTo>
                  <a:pt x="168656" y="754126"/>
                  <a:pt x="0" y="585216"/>
                  <a:pt x="0" y="377063"/>
                </a:cubicBezTo>
                <a:close/>
              </a:path>
            </a:pathLst>
          </a:cu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56" name="Google Shape;156;p4"/>
          <p:cNvSpPr/>
          <p:nvPr/>
        </p:nvSpPr>
        <p:spPr>
          <a:xfrm>
            <a:off x="8217248" y="6001494"/>
            <a:ext cx="254496" cy="254496"/>
          </a:xfrm>
          <a:custGeom>
            <a:rect b="b" l="l" r="r" t="t"/>
            <a:pathLst>
              <a:path extrusionOk="0" h="254496" w="254496">
                <a:moveTo>
                  <a:pt x="0" y="0"/>
                </a:moveTo>
                <a:lnTo>
                  <a:pt x="254496" y="0"/>
                </a:lnTo>
                <a:lnTo>
                  <a:pt x="254496" y="254496"/>
                </a:lnTo>
                <a:lnTo>
                  <a:pt x="0" y="25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4812" l="0" r="0" t="-14813"/>
            </a:stretch>
          </a:blipFill>
          <a:ln>
            <a:noFill/>
          </a:ln>
        </p:spPr>
      </p:sp>
      <p:sp>
        <p:nvSpPr>
          <p:cNvPr id="157" name="Google Shape;157;p4"/>
          <p:cNvSpPr txBox="1"/>
          <p:nvPr/>
        </p:nvSpPr>
        <p:spPr>
          <a:xfrm>
            <a:off x="8061723" y="6571357"/>
            <a:ext cx="2218284" cy="305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Interacción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8061723" y="6923634"/>
            <a:ext cx="9022556" cy="3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Facilita la interacción entre estudiantes, docentes y administrativos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7873305" y="7668816"/>
            <a:ext cx="9399366" cy="1822799"/>
          </a:xfrm>
          <a:custGeom>
            <a:rect b="b" l="l" r="r" t="t"/>
            <a:pathLst>
              <a:path extrusionOk="0" h="2430399" w="12532487">
                <a:moveTo>
                  <a:pt x="0" y="37719"/>
                </a:moveTo>
                <a:cubicBezTo>
                  <a:pt x="0" y="16891"/>
                  <a:pt x="16891" y="0"/>
                  <a:pt x="37719" y="0"/>
                </a:cubicBezTo>
                <a:lnTo>
                  <a:pt x="12494768" y="0"/>
                </a:lnTo>
                <a:cubicBezTo>
                  <a:pt x="12515597" y="0"/>
                  <a:pt x="12532487" y="16891"/>
                  <a:pt x="12532487" y="37719"/>
                </a:cubicBezTo>
                <a:lnTo>
                  <a:pt x="12532487" y="2392680"/>
                </a:lnTo>
                <a:cubicBezTo>
                  <a:pt x="12532487" y="2413508"/>
                  <a:pt x="12515597" y="2430399"/>
                  <a:pt x="12494768" y="2430399"/>
                </a:cubicBezTo>
                <a:lnTo>
                  <a:pt x="37719" y="2430399"/>
                </a:lnTo>
                <a:cubicBezTo>
                  <a:pt x="16891" y="2430399"/>
                  <a:pt x="0" y="2413508"/>
                  <a:pt x="0" y="2392680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8061723" y="7857232"/>
            <a:ext cx="565499" cy="565594"/>
          </a:xfrm>
          <a:custGeom>
            <a:rect b="b" l="l" r="r" t="t"/>
            <a:pathLst>
              <a:path extrusionOk="0" h="754126" w="753999">
                <a:moveTo>
                  <a:pt x="0" y="377063"/>
                </a:moveTo>
                <a:cubicBezTo>
                  <a:pt x="0" y="168783"/>
                  <a:pt x="168783" y="0"/>
                  <a:pt x="377063" y="0"/>
                </a:cubicBezTo>
                <a:cubicBezTo>
                  <a:pt x="585343" y="0"/>
                  <a:pt x="753999" y="168783"/>
                  <a:pt x="753999" y="377063"/>
                </a:cubicBezTo>
                <a:cubicBezTo>
                  <a:pt x="753999" y="585343"/>
                  <a:pt x="585216" y="754126"/>
                  <a:pt x="376936" y="754126"/>
                </a:cubicBezTo>
                <a:cubicBezTo>
                  <a:pt x="168656" y="754126"/>
                  <a:pt x="0" y="585216"/>
                  <a:pt x="0" y="377063"/>
                </a:cubicBezTo>
                <a:close/>
              </a:path>
            </a:pathLst>
          </a:cu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61" name="Google Shape;161;p4"/>
          <p:cNvSpPr/>
          <p:nvPr/>
        </p:nvSpPr>
        <p:spPr>
          <a:xfrm>
            <a:off x="8217248" y="8012757"/>
            <a:ext cx="254496" cy="254496"/>
          </a:xfrm>
          <a:custGeom>
            <a:rect b="b" l="l" r="r" t="t"/>
            <a:pathLst>
              <a:path extrusionOk="0" h="254496" w="254496">
                <a:moveTo>
                  <a:pt x="0" y="0"/>
                </a:moveTo>
                <a:lnTo>
                  <a:pt x="254496" y="0"/>
                </a:lnTo>
                <a:lnTo>
                  <a:pt x="254496" y="254497"/>
                </a:lnTo>
                <a:lnTo>
                  <a:pt x="0" y="25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3702" r="-3702" t="0"/>
            </a:stretch>
          </a:blipFill>
          <a:ln>
            <a:noFill/>
          </a:ln>
        </p:spPr>
      </p:sp>
      <p:sp>
        <p:nvSpPr>
          <p:cNvPr id="162" name="Google Shape;162;p4"/>
          <p:cNvSpPr txBox="1"/>
          <p:nvPr/>
        </p:nvSpPr>
        <p:spPr>
          <a:xfrm>
            <a:off x="8061723" y="8582620"/>
            <a:ext cx="2687539" cy="305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9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Experiencia Mejorada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8061723" y="8934896"/>
            <a:ext cx="9022556" cy="3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2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Mejora la experiencia universitaria desde el primer día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173" name="Google Shape;17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id="174" name="Google Shape;174;p5"/>
          <p:cNvSpPr txBox="1"/>
          <p:nvPr/>
        </p:nvSpPr>
        <p:spPr>
          <a:xfrm>
            <a:off x="1038522" y="758875"/>
            <a:ext cx="9948119" cy="93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2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3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Datos que Nos </a:t>
            </a:r>
            <a:r>
              <a:rPr b="1" i="0" lang="en-US" sz="5437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Respaldan</a:t>
            </a:r>
            <a:endParaRPr/>
          </a:p>
        </p:txBody>
      </p:sp>
      <p:grpSp>
        <p:nvGrpSpPr>
          <p:cNvPr id="175" name="Google Shape;175;p5"/>
          <p:cNvGrpSpPr/>
          <p:nvPr/>
        </p:nvGrpSpPr>
        <p:grpSpPr>
          <a:xfrm>
            <a:off x="1019472" y="2263229"/>
            <a:ext cx="7995189" cy="3485959"/>
            <a:chOff x="0" y="0"/>
            <a:chExt cx="10660253" cy="4647946"/>
          </a:xfrm>
        </p:grpSpPr>
        <p:sp>
          <p:nvSpPr>
            <p:cNvPr id="176" name="Google Shape;176;p5"/>
            <p:cNvSpPr/>
            <p:nvPr/>
          </p:nvSpPr>
          <p:spPr>
            <a:xfrm>
              <a:off x="25400" y="25400"/>
              <a:ext cx="10609453" cy="4597146"/>
            </a:xfrm>
            <a:custGeom>
              <a:rect b="b" l="l" r="r" t="t"/>
              <a:pathLst>
                <a:path extrusionOk="0" h="4597146" w="10609453">
                  <a:moveTo>
                    <a:pt x="0" y="59309"/>
                  </a:moveTo>
                  <a:cubicBezTo>
                    <a:pt x="0" y="26543"/>
                    <a:pt x="26797" y="0"/>
                    <a:pt x="59690" y="0"/>
                  </a:cubicBezTo>
                  <a:lnTo>
                    <a:pt x="10549763" y="0"/>
                  </a:lnTo>
                  <a:cubicBezTo>
                    <a:pt x="10582783" y="0"/>
                    <a:pt x="10609453" y="26543"/>
                    <a:pt x="10609453" y="59309"/>
                  </a:cubicBezTo>
                  <a:lnTo>
                    <a:pt x="10609453" y="4537837"/>
                  </a:lnTo>
                  <a:cubicBezTo>
                    <a:pt x="10609453" y="4570603"/>
                    <a:pt x="10582656" y="4597146"/>
                    <a:pt x="10549763" y="4597146"/>
                  </a:cubicBezTo>
                  <a:lnTo>
                    <a:pt x="59690" y="4597146"/>
                  </a:lnTo>
                  <a:cubicBezTo>
                    <a:pt x="26670" y="4597146"/>
                    <a:pt x="0" y="4570603"/>
                    <a:pt x="0" y="4537837"/>
                  </a:cubicBezTo>
                  <a:close/>
                </a:path>
              </a:pathLst>
            </a:custGeom>
            <a:solidFill>
              <a:srgbClr val="0C0A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0" y="0"/>
              <a:ext cx="10660253" cy="4647946"/>
            </a:xfrm>
            <a:custGeom>
              <a:rect b="b" l="l" r="r" t="t"/>
              <a:pathLst>
                <a:path extrusionOk="0" h="4647946" w="10660253">
                  <a:moveTo>
                    <a:pt x="0" y="84709"/>
                  </a:moveTo>
                  <a:cubicBezTo>
                    <a:pt x="0" y="37846"/>
                    <a:pt x="38227" y="0"/>
                    <a:pt x="85090" y="0"/>
                  </a:cubicBezTo>
                  <a:lnTo>
                    <a:pt x="10575163" y="0"/>
                  </a:lnTo>
                  <a:lnTo>
                    <a:pt x="10575163" y="25400"/>
                  </a:lnTo>
                  <a:lnTo>
                    <a:pt x="10575163" y="0"/>
                  </a:lnTo>
                  <a:cubicBezTo>
                    <a:pt x="10622026" y="0"/>
                    <a:pt x="10660253" y="37846"/>
                    <a:pt x="10660253" y="84709"/>
                  </a:cubicBezTo>
                  <a:lnTo>
                    <a:pt x="10634853" y="84709"/>
                  </a:lnTo>
                  <a:lnTo>
                    <a:pt x="10660253" y="84709"/>
                  </a:lnTo>
                  <a:lnTo>
                    <a:pt x="10660253" y="4563237"/>
                  </a:lnTo>
                  <a:lnTo>
                    <a:pt x="10634853" y="4563237"/>
                  </a:lnTo>
                  <a:lnTo>
                    <a:pt x="10660253" y="4563237"/>
                  </a:lnTo>
                  <a:cubicBezTo>
                    <a:pt x="10660253" y="4610227"/>
                    <a:pt x="10622026" y="4647946"/>
                    <a:pt x="10575163" y="4647946"/>
                  </a:cubicBezTo>
                  <a:lnTo>
                    <a:pt x="10575163" y="4622546"/>
                  </a:lnTo>
                  <a:lnTo>
                    <a:pt x="10575163" y="4647946"/>
                  </a:lnTo>
                  <a:lnTo>
                    <a:pt x="85090" y="4647946"/>
                  </a:lnTo>
                  <a:lnTo>
                    <a:pt x="85090" y="4622546"/>
                  </a:lnTo>
                  <a:lnTo>
                    <a:pt x="85090" y="4647946"/>
                  </a:lnTo>
                  <a:cubicBezTo>
                    <a:pt x="38227" y="4647946"/>
                    <a:pt x="0" y="4610100"/>
                    <a:pt x="0" y="4563237"/>
                  </a:cubicBezTo>
                  <a:lnTo>
                    <a:pt x="0" y="84709"/>
                  </a:lnTo>
                  <a:lnTo>
                    <a:pt x="25400" y="84709"/>
                  </a:lnTo>
                  <a:lnTo>
                    <a:pt x="0" y="84709"/>
                  </a:lnTo>
                  <a:moveTo>
                    <a:pt x="50800" y="84709"/>
                  </a:moveTo>
                  <a:lnTo>
                    <a:pt x="50800" y="4563237"/>
                  </a:lnTo>
                  <a:lnTo>
                    <a:pt x="25400" y="4563237"/>
                  </a:lnTo>
                  <a:lnTo>
                    <a:pt x="50800" y="4563237"/>
                  </a:lnTo>
                  <a:cubicBezTo>
                    <a:pt x="50800" y="4581779"/>
                    <a:pt x="66040" y="4597146"/>
                    <a:pt x="85090" y="4597146"/>
                  </a:cubicBezTo>
                  <a:lnTo>
                    <a:pt x="10575163" y="4597146"/>
                  </a:lnTo>
                  <a:cubicBezTo>
                    <a:pt x="10594213" y="4597146"/>
                    <a:pt x="10609453" y="4581779"/>
                    <a:pt x="10609453" y="4563237"/>
                  </a:cubicBezTo>
                  <a:lnTo>
                    <a:pt x="10609453" y="84709"/>
                  </a:lnTo>
                  <a:cubicBezTo>
                    <a:pt x="10609453" y="66167"/>
                    <a:pt x="10594213" y="50800"/>
                    <a:pt x="10575163" y="50800"/>
                  </a:cubicBezTo>
                  <a:lnTo>
                    <a:pt x="85090" y="50800"/>
                  </a:lnTo>
                  <a:lnTo>
                    <a:pt x="85090" y="25400"/>
                  </a:lnTo>
                  <a:lnTo>
                    <a:pt x="85090" y="50800"/>
                  </a:lnTo>
                  <a:cubicBezTo>
                    <a:pt x="66040" y="50800"/>
                    <a:pt x="50800" y="66167"/>
                    <a:pt x="50800" y="84709"/>
                  </a:cubicBezTo>
                  <a:close/>
                </a:path>
              </a:pathLst>
            </a:custGeom>
            <a:solidFill>
              <a:srgbClr val="444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5"/>
          <p:cNvSpPr/>
          <p:nvPr/>
        </p:nvSpPr>
        <p:spPr>
          <a:xfrm>
            <a:off x="1076622" y="2320379"/>
            <a:ext cx="7880889" cy="890111"/>
          </a:xfrm>
          <a:custGeom>
            <a:rect b="b" l="l" r="r" t="t"/>
            <a:pathLst>
              <a:path extrusionOk="0" h="1186815" w="10507853">
                <a:moveTo>
                  <a:pt x="0" y="0"/>
                </a:moveTo>
                <a:lnTo>
                  <a:pt x="10507853" y="0"/>
                </a:lnTo>
                <a:lnTo>
                  <a:pt x="10507853" y="1186815"/>
                </a:lnTo>
                <a:lnTo>
                  <a:pt x="0" y="1186815"/>
                </a:lnTo>
                <a:close/>
              </a:path>
            </a:pathLst>
          </a:custGeom>
          <a:solidFill>
            <a:srgbClr val="2B2952"/>
          </a:solidFill>
          <a:ln>
            <a:noFill/>
          </a:ln>
        </p:spPr>
      </p:sp>
      <p:sp>
        <p:nvSpPr>
          <p:cNvPr id="179" name="Google Shape;179;p5"/>
          <p:cNvSpPr txBox="1"/>
          <p:nvPr/>
        </p:nvSpPr>
        <p:spPr>
          <a:xfrm>
            <a:off x="4794498" y="2525316"/>
            <a:ext cx="444996" cy="51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1373238" y="3469035"/>
            <a:ext cx="4189362" cy="56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1 de cada 3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1373238" y="4084885"/>
            <a:ext cx="7287666" cy="13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4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Estudiantes que abandonan por desconexión social</a:t>
            </a:r>
            <a:endParaRPr/>
          </a:p>
        </p:txBody>
      </p:sp>
      <p:grpSp>
        <p:nvGrpSpPr>
          <p:cNvPr id="182" name="Google Shape;182;p5"/>
          <p:cNvGrpSpPr/>
          <p:nvPr/>
        </p:nvGrpSpPr>
        <p:grpSpPr>
          <a:xfrm>
            <a:off x="9273182" y="2263229"/>
            <a:ext cx="7995285" cy="3485959"/>
            <a:chOff x="0" y="0"/>
            <a:chExt cx="10660380" cy="4647946"/>
          </a:xfrm>
        </p:grpSpPr>
        <p:sp>
          <p:nvSpPr>
            <p:cNvPr id="183" name="Google Shape;183;p5"/>
            <p:cNvSpPr/>
            <p:nvPr/>
          </p:nvSpPr>
          <p:spPr>
            <a:xfrm>
              <a:off x="25400" y="25400"/>
              <a:ext cx="10609580" cy="4597146"/>
            </a:xfrm>
            <a:custGeom>
              <a:rect b="b" l="l" r="r" t="t"/>
              <a:pathLst>
                <a:path extrusionOk="0" h="4597146" w="10609580">
                  <a:moveTo>
                    <a:pt x="0" y="59309"/>
                  </a:moveTo>
                  <a:cubicBezTo>
                    <a:pt x="0" y="26543"/>
                    <a:pt x="26797" y="0"/>
                    <a:pt x="59690" y="0"/>
                  </a:cubicBezTo>
                  <a:lnTo>
                    <a:pt x="10549890" y="0"/>
                  </a:lnTo>
                  <a:cubicBezTo>
                    <a:pt x="10582910" y="0"/>
                    <a:pt x="10609580" y="26543"/>
                    <a:pt x="10609580" y="59309"/>
                  </a:cubicBezTo>
                  <a:lnTo>
                    <a:pt x="10609580" y="4537837"/>
                  </a:lnTo>
                  <a:cubicBezTo>
                    <a:pt x="10609580" y="4570603"/>
                    <a:pt x="10582783" y="4597146"/>
                    <a:pt x="10549890" y="4597146"/>
                  </a:cubicBezTo>
                  <a:lnTo>
                    <a:pt x="59690" y="4597146"/>
                  </a:lnTo>
                  <a:cubicBezTo>
                    <a:pt x="26670" y="4597146"/>
                    <a:pt x="0" y="4570603"/>
                    <a:pt x="0" y="4537837"/>
                  </a:cubicBezTo>
                  <a:close/>
                </a:path>
              </a:pathLst>
            </a:custGeom>
            <a:solidFill>
              <a:srgbClr val="0C0A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0" y="0"/>
              <a:ext cx="10660380" cy="4647946"/>
            </a:xfrm>
            <a:custGeom>
              <a:rect b="b" l="l" r="r" t="t"/>
              <a:pathLst>
                <a:path extrusionOk="0" h="4647946" w="10660380">
                  <a:moveTo>
                    <a:pt x="0" y="84709"/>
                  </a:moveTo>
                  <a:cubicBezTo>
                    <a:pt x="0" y="37846"/>
                    <a:pt x="38227" y="0"/>
                    <a:pt x="85090" y="0"/>
                  </a:cubicBezTo>
                  <a:lnTo>
                    <a:pt x="10575290" y="0"/>
                  </a:lnTo>
                  <a:lnTo>
                    <a:pt x="10575290" y="25400"/>
                  </a:lnTo>
                  <a:lnTo>
                    <a:pt x="10575290" y="0"/>
                  </a:lnTo>
                  <a:cubicBezTo>
                    <a:pt x="10622153" y="0"/>
                    <a:pt x="10660380" y="37846"/>
                    <a:pt x="10660380" y="84709"/>
                  </a:cubicBezTo>
                  <a:lnTo>
                    <a:pt x="10634980" y="84709"/>
                  </a:lnTo>
                  <a:lnTo>
                    <a:pt x="10660380" y="84709"/>
                  </a:lnTo>
                  <a:lnTo>
                    <a:pt x="10660380" y="4563237"/>
                  </a:lnTo>
                  <a:lnTo>
                    <a:pt x="10634980" y="4563237"/>
                  </a:lnTo>
                  <a:lnTo>
                    <a:pt x="10660380" y="4563237"/>
                  </a:lnTo>
                  <a:cubicBezTo>
                    <a:pt x="10660380" y="4610227"/>
                    <a:pt x="10622153" y="4647946"/>
                    <a:pt x="10575290" y="4647946"/>
                  </a:cubicBezTo>
                  <a:lnTo>
                    <a:pt x="10575290" y="4622546"/>
                  </a:lnTo>
                  <a:lnTo>
                    <a:pt x="10575290" y="4647946"/>
                  </a:lnTo>
                  <a:lnTo>
                    <a:pt x="85090" y="4647946"/>
                  </a:lnTo>
                  <a:lnTo>
                    <a:pt x="85090" y="4622546"/>
                  </a:lnTo>
                  <a:lnTo>
                    <a:pt x="85090" y="4647946"/>
                  </a:lnTo>
                  <a:cubicBezTo>
                    <a:pt x="38227" y="4647946"/>
                    <a:pt x="0" y="4610100"/>
                    <a:pt x="0" y="4563237"/>
                  </a:cubicBezTo>
                  <a:lnTo>
                    <a:pt x="0" y="84709"/>
                  </a:lnTo>
                  <a:lnTo>
                    <a:pt x="25400" y="84709"/>
                  </a:lnTo>
                  <a:lnTo>
                    <a:pt x="0" y="84709"/>
                  </a:lnTo>
                  <a:moveTo>
                    <a:pt x="50800" y="84709"/>
                  </a:moveTo>
                  <a:lnTo>
                    <a:pt x="50800" y="4563237"/>
                  </a:lnTo>
                  <a:lnTo>
                    <a:pt x="25400" y="4563237"/>
                  </a:lnTo>
                  <a:lnTo>
                    <a:pt x="50800" y="4563237"/>
                  </a:lnTo>
                  <a:cubicBezTo>
                    <a:pt x="50800" y="4581779"/>
                    <a:pt x="66040" y="4597146"/>
                    <a:pt x="85090" y="4597146"/>
                  </a:cubicBezTo>
                  <a:lnTo>
                    <a:pt x="10575290" y="4597146"/>
                  </a:lnTo>
                  <a:cubicBezTo>
                    <a:pt x="10594340" y="4597146"/>
                    <a:pt x="10609580" y="4581779"/>
                    <a:pt x="10609580" y="4563237"/>
                  </a:cubicBezTo>
                  <a:lnTo>
                    <a:pt x="10609580" y="84709"/>
                  </a:lnTo>
                  <a:cubicBezTo>
                    <a:pt x="10609580" y="66167"/>
                    <a:pt x="10594340" y="50800"/>
                    <a:pt x="10575290" y="50800"/>
                  </a:cubicBezTo>
                  <a:lnTo>
                    <a:pt x="85090" y="50800"/>
                  </a:lnTo>
                  <a:lnTo>
                    <a:pt x="85090" y="25400"/>
                  </a:lnTo>
                  <a:lnTo>
                    <a:pt x="85090" y="50800"/>
                  </a:lnTo>
                  <a:cubicBezTo>
                    <a:pt x="66040" y="50800"/>
                    <a:pt x="50800" y="66167"/>
                    <a:pt x="50800" y="84709"/>
                  </a:cubicBezTo>
                  <a:close/>
                </a:path>
              </a:pathLst>
            </a:custGeom>
            <a:solidFill>
              <a:srgbClr val="444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5"/>
          <p:cNvSpPr/>
          <p:nvPr/>
        </p:nvSpPr>
        <p:spPr>
          <a:xfrm>
            <a:off x="9330332" y="2320379"/>
            <a:ext cx="7881080" cy="890111"/>
          </a:xfrm>
          <a:custGeom>
            <a:rect b="b" l="l" r="r" t="t"/>
            <a:pathLst>
              <a:path extrusionOk="0" h="1186815" w="10508107">
                <a:moveTo>
                  <a:pt x="0" y="0"/>
                </a:moveTo>
                <a:lnTo>
                  <a:pt x="10508107" y="0"/>
                </a:lnTo>
                <a:lnTo>
                  <a:pt x="10508107" y="1186815"/>
                </a:lnTo>
                <a:lnTo>
                  <a:pt x="0" y="1186815"/>
                </a:lnTo>
                <a:close/>
              </a:path>
            </a:pathLst>
          </a:custGeom>
          <a:solidFill>
            <a:srgbClr val="2B2952"/>
          </a:solidFill>
          <a:ln>
            <a:noFill/>
          </a:ln>
        </p:spPr>
      </p:sp>
      <p:sp>
        <p:nvSpPr>
          <p:cNvPr id="186" name="Google Shape;186;p5"/>
          <p:cNvSpPr txBox="1"/>
          <p:nvPr/>
        </p:nvSpPr>
        <p:spPr>
          <a:xfrm>
            <a:off x="13048357" y="2525316"/>
            <a:ext cx="444996" cy="51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9626948" y="3469035"/>
            <a:ext cx="4189362" cy="53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23.5%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9626948" y="3906887"/>
            <a:ext cx="7287816" cy="1717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4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Chilenos que abandonan sus estudios superiores el primer año (este porcentaje solo representa el primer año!)</a:t>
            </a:r>
            <a:endParaRPr/>
          </a:p>
        </p:txBody>
      </p:sp>
      <p:grpSp>
        <p:nvGrpSpPr>
          <p:cNvPr id="189" name="Google Shape;189;p5"/>
          <p:cNvGrpSpPr/>
          <p:nvPr/>
        </p:nvGrpSpPr>
        <p:grpSpPr>
          <a:xfrm>
            <a:off x="1019472" y="6007745"/>
            <a:ext cx="7995189" cy="3485959"/>
            <a:chOff x="0" y="0"/>
            <a:chExt cx="10660253" cy="4647946"/>
          </a:xfrm>
        </p:grpSpPr>
        <p:sp>
          <p:nvSpPr>
            <p:cNvPr id="190" name="Google Shape;190;p5"/>
            <p:cNvSpPr/>
            <p:nvPr/>
          </p:nvSpPr>
          <p:spPr>
            <a:xfrm>
              <a:off x="25400" y="25400"/>
              <a:ext cx="10609453" cy="4597146"/>
            </a:xfrm>
            <a:custGeom>
              <a:rect b="b" l="l" r="r" t="t"/>
              <a:pathLst>
                <a:path extrusionOk="0" h="4597146" w="10609453">
                  <a:moveTo>
                    <a:pt x="0" y="59309"/>
                  </a:moveTo>
                  <a:cubicBezTo>
                    <a:pt x="0" y="26543"/>
                    <a:pt x="26797" y="0"/>
                    <a:pt x="59690" y="0"/>
                  </a:cubicBezTo>
                  <a:lnTo>
                    <a:pt x="10549763" y="0"/>
                  </a:lnTo>
                  <a:cubicBezTo>
                    <a:pt x="10582783" y="0"/>
                    <a:pt x="10609453" y="26543"/>
                    <a:pt x="10609453" y="59309"/>
                  </a:cubicBezTo>
                  <a:lnTo>
                    <a:pt x="10609453" y="4537837"/>
                  </a:lnTo>
                  <a:cubicBezTo>
                    <a:pt x="10609453" y="4570603"/>
                    <a:pt x="10582656" y="4597146"/>
                    <a:pt x="10549763" y="4597146"/>
                  </a:cubicBezTo>
                  <a:lnTo>
                    <a:pt x="59690" y="4597146"/>
                  </a:lnTo>
                  <a:cubicBezTo>
                    <a:pt x="26670" y="4597146"/>
                    <a:pt x="0" y="4570603"/>
                    <a:pt x="0" y="4537837"/>
                  </a:cubicBezTo>
                  <a:close/>
                </a:path>
              </a:pathLst>
            </a:custGeom>
            <a:solidFill>
              <a:srgbClr val="0C0A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0" y="0"/>
              <a:ext cx="10660253" cy="4647946"/>
            </a:xfrm>
            <a:custGeom>
              <a:rect b="b" l="l" r="r" t="t"/>
              <a:pathLst>
                <a:path extrusionOk="0" h="4647946" w="10660253">
                  <a:moveTo>
                    <a:pt x="0" y="84709"/>
                  </a:moveTo>
                  <a:cubicBezTo>
                    <a:pt x="0" y="37846"/>
                    <a:pt x="38227" y="0"/>
                    <a:pt x="85090" y="0"/>
                  </a:cubicBezTo>
                  <a:lnTo>
                    <a:pt x="10575163" y="0"/>
                  </a:lnTo>
                  <a:lnTo>
                    <a:pt x="10575163" y="25400"/>
                  </a:lnTo>
                  <a:lnTo>
                    <a:pt x="10575163" y="0"/>
                  </a:lnTo>
                  <a:cubicBezTo>
                    <a:pt x="10622026" y="0"/>
                    <a:pt x="10660253" y="37846"/>
                    <a:pt x="10660253" y="84709"/>
                  </a:cubicBezTo>
                  <a:lnTo>
                    <a:pt x="10634853" y="84709"/>
                  </a:lnTo>
                  <a:lnTo>
                    <a:pt x="10660253" y="84709"/>
                  </a:lnTo>
                  <a:lnTo>
                    <a:pt x="10660253" y="4563237"/>
                  </a:lnTo>
                  <a:lnTo>
                    <a:pt x="10634853" y="4563237"/>
                  </a:lnTo>
                  <a:lnTo>
                    <a:pt x="10660253" y="4563237"/>
                  </a:lnTo>
                  <a:cubicBezTo>
                    <a:pt x="10660253" y="4610227"/>
                    <a:pt x="10622026" y="4647946"/>
                    <a:pt x="10575163" y="4647946"/>
                  </a:cubicBezTo>
                  <a:lnTo>
                    <a:pt x="10575163" y="4622546"/>
                  </a:lnTo>
                  <a:lnTo>
                    <a:pt x="10575163" y="4647946"/>
                  </a:lnTo>
                  <a:lnTo>
                    <a:pt x="85090" y="4647946"/>
                  </a:lnTo>
                  <a:lnTo>
                    <a:pt x="85090" y="4622546"/>
                  </a:lnTo>
                  <a:lnTo>
                    <a:pt x="85090" y="4647946"/>
                  </a:lnTo>
                  <a:cubicBezTo>
                    <a:pt x="38227" y="4647946"/>
                    <a:pt x="0" y="4610100"/>
                    <a:pt x="0" y="4563237"/>
                  </a:cubicBezTo>
                  <a:lnTo>
                    <a:pt x="0" y="84709"/>
                  </a:lnTo>
                  <a:lnTo>
                    <a:pt x="25400" y="84709"/>
                  </a:lnTo>
                  <a:lnTo>
                    <a:pt x="0" y="84709"/>
                  </a:lnTo>
                  <a:moveTo>
                    <a:pt x="50800" y="84709"/>
                  </a:moveTo>
                  <a:lnTo>
                    <a:pt x="50800" y="4563237"/>
                  </a:lnTo>
                  <a:lnTo>
                    <a:pt x="25400" y="4563237"/>
                  </a:lnTo>
                  <a:lnTo>
                    <a:pt x="50800" y="4563237"/>
                  </a:lnTo>
                  <a:cubicBezTo>
                    <a:pt x="50800" y="4581779"/>
                    <a:pt x="66040" y="4597146"/>
                    <a:pt x="85090" y="4597146"/>
                  </a:cubicBezTo>
                  <a:lnTo>
                    <a:pt x="10575163" y="4597146"/>
                  </a:lnTo>
                  <a:cubicBezTo>
                    <a:pt x="10594213" y="4597146"/>
                    <a:pt x="10609453" y="4581779"/>
                    <a:pt x="10609453" y="4563237"/>
                  </a:cubicBezTo>
                  <a:lnTo>
                    <a:pt x="10609453" y="84709"/>
                  </a:lnTo>
                  <a:cubicBezTo>
                    <a:pt x="10609453" y="66167"/>
                    <a:pt x="10594213" y="50800"/>
                    <a:pt x="10575163" y="50800"/>
                  </a:cubicBezTo>
                  <a:lnTo>
                    <a:pt x="85090" y="50800"/>
                  </a:lnTo>
                  <a:lnTo>
                    <a:pt x="85090" y="25400"/>
                  </a:lnTo>
                  <a:lnTo>
                    <a:pt x="85090" y="50800"/>
                  </a:lnTo>
                  <a:cubicBezTo>
                    <a:pt x="66040" y="50800"/>
                    <a:pt x="50800" y="66167"/>
                    <a:pt x="50800" y="84709"/>
                  </a:cubicBezTo>
                  <a:close/>
                </a:path>
              </a:pathLst>
            </a:custGeom>
            <a:solidFill>
              <a:srgbClr val="444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5"/>
          <p:cNvSpPr/>
          <p:nvPr/>
        </p:nvSpPr>
        <p:spPr>
          <a:xfrm>
            <a:off x="1076622" y="6064895"/>
            <a:ext cx="7880889" cy="890111"/>
          </a:xfrm>
          <a:custGeom>
            <a:rect b="b" l="l" r="r" t="t"/>
            <a:pathLst>
              <a:path extrusionOk="0" h="1186815" w="10507853">
                <a:moveTo>
                  <a:pt x="0" y="0"/>
                </a:moveTo>
                <a:lnTo>
                  <a:pt x="10507853" y="0"/>
                </a:lnTo>
                <a:lnTo>
                  <a:pt x="10507853" y="1186815"/>
                </a:lnTo>
                <a:lnTo>
                  <a:pt x="0" y="1186815"/>
                </a:lnTo>
                <a:close/>
              </a:path>
            </a:pathLst>
          </a:custGeom>
          <a:solidFill>
            <a:srgbClr val="2B2952"/>
          </a:solidFill>
          <a:ln>
            <a:noFill/>
          </a:ln>
        </p:spPr>
      </p:sp>
      <p:sp>
        <p:nvSpPr>
          <p:cNvPr id="193" name="Google Shape;193;p5"/>
          <p:cNvSpPr txBox="1"/>
          <p:nvPr/>
        </p:nvSpPr>
        <p:spPr>
          <a:xfrm>
            <a:off x="4794498" y="6269831"/>
            <a:ext cx="444996" cy="51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1373238" y="7213550"/>
            <a:ext cx="4189362" cy="56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$25–40M CLP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1373237" y="7829401"/>
            <a:ext cx="7287666" cy="1717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4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Costo promedio de una carrera profesional en Chile (solo contando los estudios mas no el costo de vida!)</a:t>
            </a:r>
            <a:endParaRPr/>
          </a:p>
        </p:txBody>
      </p:sp>
      <p:grpSp>
        <p:nvGrpSpPr>
          <p:cNvPr id="196" name="Google Shape;196;p5"/>
          <p:cNvGrpSpPr/>
          <p:nvPr/>
        </p:nvGrpSpPr>
        <p:grpSpPr>
          <a:xfrm>
            <a:off x="9273182" y="6007745"/>
            <a:ext cx="7995285" cy="3485959"/>
            <a:chOff x="0" y="0"/>
            <a:chExt cx="10660380" cy="4647946"/>
          </a:xfrm>
        </p:grpSpPr>
        <p:sp>
          <p:nvSpPr>
            <p:cNvPr id="197" name="Google Shape;197;p5"/>
            <p:cNvSpPr/>
            <p:nvPr/>
          </p:nvSpPr>
          <p:spPr>
            <a:xfrm>
              <a:off x="25400" y="25400"/>
              <a:ext cx="10609580" cy="4597146"/>
            </a:xfrm>
            <a:custGeom>
              <a:rect b="b" l="l" r="r" t="t"/>
              <a:pathLst>
                <a:path extrusionOk="0" h="4597146" w="10609580">
                  <a:moveTo>
                    <a:pt x="0" y="59309"/>
                  </a:moveTo>
                  <a:cubicBezTo>
                    <a:pt x="0" y="26543"/>
                    <a:pt x="26797" y="0"/>
                    <a:pt x="59690" y="0"/>
                  </a:cubicBezTo>
                  <a:lnTo>
                    <a:pt x="10549890" y="0"/>
                  </a:lnTo>
                  <a:cubicBezTo>
                    <a:pt x="10582910" y="0"/>
                    <a:pt x="10609580" y="26543"/>
                    <a:pt x="10609580" y="59309"/>
                  </a:cubicBezTo>
                  <a:lnTo>
                    <a:pt x="10609580" y="4537837"/>
                  </a:lnTo>
                  <a:cubicBezTo>
                    <a:pt x="10609580" y="4570603"/>
                    <a:pt x="10582783" y="4597146"/>
                    <a:pt x="10549890" y="4597146"/>
                  </a:cubicBezTo>
                  <a:lnTo>
                    <a:pt x="59690" y="4597146"/>
                  </a:lnTo>
                  <a:cubicBezTo>
                    <a:pt x="26670" y="4597146"/>
                    <a:pt x="0" y="4570603"/>
                    <a:pt x="0" y="4537837"/>
                  </a:cubicBezTo>
                  <a:close/>
                </a:path>
              </a:pathLst>
            </a:custGeom>
            <a:solidFill>
              <a:srgbClr val="0C0A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0" y="0"/>
              <a:ext cx="10660380" cy="4647946"/>
            </a:xfrm>
            <a:custGeom>
              <a:rect b="b" l="l" r="r" t="t"/>
              <a:pathLst>
                <a:path extrusionOk="0" h="4647946" w="10660380">
                  <a:moveTo>
                    <a:pt x="0" y="84709"/>
                  </a:moveTo>
                  <a:cubicBezTo>
                    <a:pt x="0" y="37846"/>
                    <a:pt x="38227" y="0"/>
                    <a:pt x="85090" y="0"/>
                  </a:cubicBezTo>
                  <a:lnTo>
                    <a:pt x="10575290" y="0"/>
                  </a:lnTo>
                  <a:lnTo>
                    <a:pt x="10575290" y="25400"/>
                  </a:lnTo>
                  <a:lnTo>
                    <a:pt x="10575290" y="0"/>
                  </a:lnTo>
                  <a:cubicBezTo>
                    <a:pt x="10622153" y="0"/>
                    <a:pt x="10660380" y="37846"/>
                    <a:pt x="10660380" y="84709"/>
                  </a:cubicBezTo>
                  <a:lnTo>
                    <a:pt x="10634980" y="84709"/>
                  </a:lnTo>
                  <a:lnTo>
                    <a:pt x="10660380" y="84709"/>
                  </a:lnTo>
                  <a:lnTo>
                    <a:pt x="10660380" y="4563237"/>
                  </a:lnTo>
                  <a:lnTo>
                    <a:pt x="10634980" y="4563237"/>
                  </a:lnTo>
                  <a:lnTo>
                    <a:pt x="10660380" y="4563237"/>
                  </a:lnTo>
                  <a:cubicBezTo>
                    <a:pt x="10660380" y="4610227"/>
                    <a:pt x="10622153" y="4647946"/>
                    <a:pt x="10575290" y="4647946"/>
                  </a:cubicBezTo>
                  <a:lnTo>
                    <a:pt x="10575290" y="4622546"/>
                  </a:lnTo>
                  <a:lnTo>
                    <a:pt x="10575290" y="4647946"/>
                  </a:lnTo>
                  <a:lnTo>
                    <a:pt x="85090" y="4647946"/>
                  </a:lnTo>
                  <a:lnTo>
                    <a:pt x="85090" y="4622546"/>
                  </a:lnTo>
                  <a:lnTo>
                    <a:pt x="85090" y="4647946"/>
                  </a:lnTo>
                  <a:cubicBezTo>
                    <a:pt x="38227" y="4647946"/>
                    <a:pt x="0" y="4610100"/>
                    <a:pt x="0" y="4563237"/>
                  </a:cubicBezTo>
                  <a:lnTo>
                    <a:pt x="0" y="84709"/>
                  </a:lnTo>
                  <a:lnTo>
                    <a:pt x="25400" y="84709"/>
                  </a:lnTo>
                  <a:lnTo>
                    <a:pt x="0" y="84709"/>
                  </a:lnTo>
                  <a:moveTo>
                    <a:pt x="50800" y="84709"/>
                  </a:moveTo>
                  <a:lnTo>
                    <a:pt x="50800" y="4563237"/>
                  </a:lnTo>
                  <a:lnTo>
                    <a:pt x="25400" y="4563237"/>
                  </a:lnTo>
                  <a:lnTo>
                    <a:pt x="50800" y="4563237"/>
                  </a:lnTo>
                  <a:cubicBezTo>
                    <a:pt x="50800" y="4581779"/>
                    <a:pt x="66040" y="4597146"/>
                    <a:pt x="85090" y="4597146"/>
                  </a:cubicBezTo>
                  <a:lnTo>
                    <a:pt x="10575290" y="4597146"/>
                  </a:lnTo>
                  <a:cubicBezTo>
                    <a:pt x="10594340" y="4597146"/>
                    <a:pt x="10609580" y="4581779"/>
                    <a:pt x="10609580" y="4563237"/>
                  </a:cubicBezTo>
                  <a:lnTo>
                    <a:pt x="10609580" y="84709"/>
                  </a:lnTo>
                  <a:cubicBezTo>
                    <a:pt x="10609580" y="66167"/>
                    <a:pt x="10594340" y="50800"/>
                    <a:pt x="10575290" y="50800"/>
                  </a:cubicBezTo>
                  <a:lnTo>
                    <a:pt x="85090" y="50800"/>
                  </a:lnTo>
                  <a:lnTo>
                    <a:pt x="85090" y="25400"/>
                  </a:lnTo>
                  <a:lnTo>
                    <a:pt x="85090" y="50800"/>
                  </a:lnTo>
                  <a:cubicBezTo>
                    <a:pt x="66040" y="50800"/>
                    <a:pt x="50800" y="66167"/>
                    <a:pt x="50800" y="84709"/>
                  </a:cubicBezTo>
                  <a:close/>
                </a:path>
              </a:pathLst>
            </a:custGeom>
            <a:solidFill>
              <a:srgbClr val="444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5"/>
          <p:cNvSpPr/>
          <p:nvPr/>
        </p:nvSpPr>
        <p:spPr>
          <a:xfrm>
            <a:off x="9330332" y="6064895"/>
            <a:ext cx="7881080" cy="890111"/>
          </a:xfrm>
          <a:custGeom>
            <a:rect b="b" l="l" r="r" t="t"/>
            <a:pathLst>
              <a:path extrusionOk="0" h="1186815" w="10508107">
                <a:moveTo>
                  <a:pt x="0" y="0"/>
                </a:moveTo>
                <a:lnTo>
                  <a:pt x="10508107" y="0"/>
                </a:lnTo>
                <a:lnTo>
                  <a:pt x="10508107" y="1186815"/>
                </a:lnTo>
                <a:lnTo>
                  <a:pt x="0" y="1186815"/>
                </a:lnTo>
                <a:close/>
              </a:path>
            </a:pathLst>
          </a:custGeom>
          <a:solidFill>
            <a:srgbClr val="2B2952"/>
          </a:solidFill>
          <a:ln>
            <a:noFill/>
          </a:ln>
        </p:spPr>
      </p:sp>
      <p:sp>
        <p:nvSpPr>
          <p:cNvPr id="200" name="Google Shape;200;p5"/>
          <p:cNvSpPr txBox="1"/>
          <p:nvPr/>
        </p:nvSpPr>
        <p:spPr>
          <a:xfrm>
            <a:off x="13048357" y="6269831"/>
            <a:ext cx="444996" cy="518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9626948" y="7213550"/>
            <a:ext cx="4189362" cy="56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30%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9626948" y="7650361"/>
            <a:ext cx="7584430" cy="1665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8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75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Visitantes que no regresan a un mall tras una mala experiencia esto nos habla sobre lo ansioso que nos vuelve un entorno desconocido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212" name="Google Shape;21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873621" y="667345"/>
            <a:ext cx="2643188" cy="349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2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2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Insight Clave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873621" y="1296591"/>
            <a:ext cx="16540757" cy="279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87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 un estudiante se siente perdido en su primer día, su percepción de la universidad se ve afectada.</a:t>
            </a:r>
            <a:endParaRPr/>
          </a:p>
        </p:txBody>
      </p:sp>
      <p:sp>
        <p:nvSpPr>
          <p:cNvPr descr="preencoded.png" id="215" name="Google Shape;215;p6"/>
          <p:cNvSpPr/>
          <p:nvPr/>
        </p:nvSpPr>
        <p:spPr>
          <a:xfrm>
            <a:off x="873621" y="4679007"/>
            <a:ext cx="7196710" cy="5199602"/>
          </a:xfrm>
          <a:custGeom>
            <a:rect b="b" l="l" r="r" t="t"/>
            <a:pathLst>
              <a:path extrusionOk="0" h="6932803" w="9595612">
                <a:moveTo>
                  <a:pt x="0" y="0"/>
                </a:moveTo>
                <a:lnTo>
                  <a:pt x="9595612" y="0"/>
                </a:lnTo>
                <a:lnTo>
                  <a:pt x="9595612" y="6932803"/>
                </a:lnTo>
                <a:lnTo>
                  <a:pt x="0" y="6932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7" r="-17" t="0"/>
            </a:stretch>
          </a:blipFill>
          <a:ln>
            <a:noFill/>
          </a:ln>
        </p:spPr>
      </p:sp>
      <p:sp>
        <p:nvSpPr>
          <p:cNvPr id="216" name="Google Shape;216;p6"/>
          <p:cNvSpPr txBox="1"/>
          <p:nvPr/>
        </p:nvSpPr>
        <p:spPr>
          <a:xfrm>
            <a:off x="9427518" y="6724650"/>
            <a:ext cx="7996386" cy="1003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Si no logra integrarse académica o socialmente en los primeros meses, hay alta probabilidad de deserción.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226" name="Google Shape;22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id="227" name="Google Shape;227;p7"/>
          <p:cNvSpPr txBox="1"/>
          <p:nvPr/>
        </p:nvSpPr>
        <p:spPr>
          <a:xfrm>
            <a:off x="1047155" y="1405681"/>
            <a:ext cx="7040612" cy="937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Nuestra </a:t>
            </a:r>
            <a:r>
              <a:rPr b="1" i="0" lang="en-US" sz="5500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Solución</a:t>
            </a:r>
            <a:endParaRPr/>
          </a:p>
        </p:txBody>
      </p:sp>
      <p:sp>
        <p:nvSpPr>
          <p:cNvPr descr="preencoded.png" id="228" name="Google Shape;228;p7"/>
          <p:cNvSpPr/>
          <p:nvPr/>
        </p:nvSpPr>
        <p:spPr>
          <a:xfrm>
            <a:off x="1047155" y="2941290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7"/>
          <p:cNvSpPr txBox="1"/>
          <p:nvPr/>
        </p:nvSpPr>
        <p:spPr>
          <a:xfrm>
            <a:off x="1047155" y="4025205"/>
            <a:ext cx="7301090" cy="868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Recorrido Virtual Interactivo</a:t>
            </a:r>
            <a:endParaRPr/>
          </a:p>
          <a:p>
            <a:pPr indent="0" lvl="0" marL="0" marR="0" rtl="0" algn="l">
              <a:lnSpc>
                <a:spcPct val="125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49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para que los estudiantes no se sientan perdidos</a:t>
            </a:r>
            <a:endParaRPr/>
          </a:p>
        </p:txBody>
      </p:sp>
      <p:sp>
        <p:nvSpPr>
          <p:cNvPr descr="preencoded.png" id="230" name="Google Shape;230;p7"/>
          <p:cNvSpPr/>
          <p:nvPr/>
        </p:nvSpPr>
        <p:spPr>
          <a:xfrm>
            <a:off x="9330929" y="2941290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7"/>
          <p:cNvSpPr txBox="1"/>
          <p:nvPr/>
        </p:nvSpPr>
        <p:spPr>
          <a:xfrm>
            <a:off x="9330929" y="4025205"/>
            <a:ext cx="7328298" cy="877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Foros de Bienestar y Académicos</a:t>
            </a:r>
            <a:endParaRPr/>
          </a:p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para lograr combatir episodios de ansiedad</a:t>
            </a:r>
            <a:endParaRPr/>
          </a:p>
        </p:txBody>
      </p:sp>
      <p:sp>
        <p:nvSpPr>
          <p:cNvPr descr="preencoded.png" id="232" name="Google Shape;232;p7"/>
          <p:cNvSpPr/>
          <p:nvPr/>
        </p:nvSpPr>
        <p:spPr>
          <a:xfrm>
            <a:off x="1047155" y="5101679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9492" r="-9491" t="0"/>
            </a:stretch>
          </a:blipFill>
          <a:ln>
            <a:noFill/>
          </a:ln>
        </p:spPr>
      </p:sp>
      <p:sp>
        <p:nvSpPr>
          <p:cNvPr id="233" name="Google Shape;233;p7"/>
          <p:cNvSpPr txBox="1"/>
          <p:nvPr/>
        </p:nvSpPr>
        <p:spPr>
          <a:xfrm>
            <a:off x="1047155" y="6185595"/>
            <a:ext cx="6740724" cy="877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Notificaciones de Clases y Eventos</a:t>
            </a:r>
            <a:endParaRPr/>
          </a:p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para reforzar la responsabilidad académica </a:t>
            </a:r>
            <a:endParaRPr/>
          </a:p>
        </p:txBody>
      </p:sp>
      <p:sp>
        <p:nvSpPr>
          <p:cNvPr descr="preencoded.png" id="234" name="Google Shape;234;p7"/>
          <p:cNvSpPr/>
          <p:nvPr/>
        </p:nvSpPr>
        <p:spPr>
          <a:xfrm>
            <a:off x="9330929" y="5101679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6327" r="-6326" t="0"/>
            </a:stretch>
          </a:blipFill>
          <a:ln>
            <a:noFill/>
          </a:ln>
        </p:spPr>
      </p:sp>
      <p:sp>
        <p:nvSpPr>
          <p:cNvPr id="235" name="Google Shape;235;p7"/>
          <p:cNvSpPr txBox="1"/>
          <p:nvPr/>
        </p:nvSpPr>
        <p:spPr>
          <a:xfrm>
            <a:off x="9330929" y="6185595"/>
            <a:ext cx="7328298" cy="877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Portafolio Académico Automático</a:t>
            </a:r>
            <a:endParaRPr/>
          </a:p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facilitando una base para conseguir trabajo</a:t>
            </a:r>
            <a:endParaRPr/>
          </a:p>
        </p:txBody>
      </p:sp>
      <p:sp>
        <p:nvSpPr>
          <p:cNvPr descr="preencoded.png" id="236" name="Google Shape;236;p7"/>
          <p:cNvSpPr/>
          <p:nvPr/>
        </p:nvSpPr>
        <p:spPr>
          <a:xfrm>
            <a:off x="1047155" y="7262069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7593" r="-7593" t="0"/>
            </a:stretch>
          </a:blipFill>
          <a:ln>
            <a:noFill/>
          </a:ln>
        </p:spPr>
      </p:sp>
      <p:sp>
        <p:nvSpPr>
          <p:cNvPr id="237" name="Google Shape;237;p7"/>
          <p:cNvSpPr txBox="1"/>
          <p:nvPr/>
        </p:nvSpPr>
        <p:spPr>
          <a:xfrm>
            <a:off x="1047155" y="8345984"/>
            <a:ext cx="7584696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Mercado Estudiantil Seguro</a:t>
            </a:r>
            <a:endParaRPr/>
          </a:p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para conocer gente nueva e impulsar las ventas de los estudiantes que dependen de esto</a:t>
            </a:r>
            <a:endParaRPr/>
          </a:p>
        </p:txBody>
      </p:sp>
      <p:sp>
        <p:nvSpPr>
          <p:cNvPr descr="preencoded.png" id="238" name="Google Shape;238;p7"/>
          <p:cNvSpPr/>
          <p:nvPr/>
        </p:nvSpPr>
        <p:spPr>
          <a:xfrm>
            <a:off x="9330929" y="7262069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7"/>
          <p:cNvSpPr txBox="1"/>
          <p:nvPr/>
        </p:nvSpPr>
        <p:spPr>
          <a:xfrm>
            <a:off x="9330929" y="8345984"/>
            <a:ext cx="7328298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Accesible desde Cualquier Dispositivo</a:t>
            </a:r>
            <a:endParaRPr/>
          </a:p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asegurando que todos puedan acceder a esta herramienta sin problemas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249" name="Google Shape;24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id="250" name="Google Shape;250;p8"/>
          <p:cNvSpPr/>
          <p:nvPr/>
        </p:nvSpPr>
        <p:spPr>
          <a:xfrm>
            <a:off x="1047155" y="7968406"/>
            <a:ext cx="16193643" cy="1271397"/>
          </a:xfrm>
          <a:custGeom>
            <a:rect b="b" l="l" r="r" t="t"/>
            <a:pathLst>
              <a:path extrusionOk="0" h="1695196" w="21591524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1531706" y="0"/>
                </a:lnTo>
                <a:cubicBezTo>
                  <a:pt x="21564727" y="0"/>
                  <a:pt x="21591524" y="26797"/>
                  <a:pt x="21591524" y="59817"/>
                </a:cubicBezTo>
                <a:lnTo>
                  <a:pt x="21591524" y="1635379"/>
                </a:lnTo>
                <a:cubicBezTo>
                  <a:pt x="21591524" y="1668399"/>
                  <a:pt x="21564727" y="1695196"/>
                  <a:pt x="21531706" y="1695196"/>
                </a:cubicBezTo>
                <a:lnTo>
                  <a:pt x="59817" y="1695196"/>
                </a:lnTo>
                <a:cubicBezTo>
                  <a:pt x="26797" y="1695196"/>
                  <a:pt x="0" y="1668399"/>
                  <a:pt x="0" y="1635379"/>
                </a:cubicBezTo>
                <a:close/>
              </a:path>
            </a:pathLst>
          </a:custGeom>
          <a:solidFill>
            <a:srgbClr val="0F0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51" name="Google Shape;251;p8"/>
          <p:cNvSpPr/>
          <p:nvPr/>
        </p:nvSpPr>
        <p:spPr>
          <a:xfrm>
            <a:off x="1346299" y="8413849"/>
            <a:ext cx="374047" cy="299180"/>
          </a:xfrm>
          <a:custGeom>
            <a:rect b="b" l="l" r="r" t="t"/>
            <a:pathLst>
              <a:path extrusionOk="0" h="398907" w="498729">
                <a:moveTo>
                  <a:pt x="0" y="0"/>
                </a:moveTo>
                <a:lnTo>
                  <a:pt x="498729" y="0"/>
                </a:lnTo>
                <a:lnTo>
                  <a:pt x="498729" y="398907"/>
                </a:lnTo>
                <a:lnTo>
                  <a:pt x="0" y="398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0" l="-310" r="-300" t="0"/>
            </a:stretch>
          </a:blipFill>
          <a:ln>
            <a:noFill/>
          </a:ln>
        </p:spPr>
      </p:sp>
      <p:sp>
        <p:nvSpPr>
          <p:cNvPr id="252" name="Google Shape;252;p8"/>
          <p:cNvSpPr/>
          <p:nvPr/>
        </p:nvSpPr>
        <p:spPr>
          <a:xfrm>
            <a:off x="9854707" y="1537618"/>
            <a:ext cx="6107022" cy="5727501"/>
          </a:xfrm>
          <a:custGeom>
            <a:rect b="b" l="l" r="r" t="t"/>
            <a:pathLst>
              <a:path extrusionOk="0" h="5727501" w="6107022">
                <a:moveTo>
                  <a:pt x="0" y="0"/>
                </a:moveTo>
                <a:lnTo>
                  <a:pt x="6107022" y="0"/>
                </a:lnTo>
                <a:lnTo>
                  <a:pt x="6107022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665" l="0" r="0" t="-2667"/>
            </a:stretch>
          </a:blipFill>
          <a:ln>
            <a:noFill/>
          </a:ln>
        </p:spPr>
      </p:sp>
      <p:sp>
        <p:nvSpPr>
          <p:cNvPr id="253" name="Google Shape;253;p8"/>
          <p:cNvSpPr txBox="1"/>
          <p:nvPr/>
        </p:nvSpPr>
        <p:spPr>
          <a:xfrm>
            <a:off x="1047155" y="989856"/>
            <a:ext cx="8387060" cy="937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Cómo lo </a:t>
            </a:r>
            <a:r>
              <a:rPr b="1" i="0" lang="en-US" sz="5500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Construimos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1047155" y="2636788"/>
            <a:ext cx="3520231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Metodología Ágil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1047155" y="3299669"/>
            <a:ext cx="6039445" cy="59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Adaptada a nuestro equipo de 3 personas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1047155" y="4047679"/>
            <a:ext cx="6039445" cy="59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4376" lvl="1" marL="348754" marR="0" rtl="0" algn="l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312"/>
              <a:buFont typeface="Arial"/>
              <a:buChar char="•"/>
            </a:pPr>
            <a:r>
              <a:rPr b="0" i="0" lang="en-US" sz="231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Backend: Django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1047155" y="4631085"/>
            <a:ext cx="6039445" cy="457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4376" lvl="1" marL="348754" marR="0" rtl="0" algn="l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312"/>
              <a:buFont typeface="Arial"/>
              <a:buChar char="•"/>
            </a:pPr>
            <a:r>
              <a:rPr b="0" i="0" lang="en-US" sz="231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Frontend: Ionic 7 (PWA)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1047155" y="5214491"/>
            <a:ext cx="6039445" cy="59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4376" lvl="1" marL="348754" marR="0" rtl="0" algn="l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312"/>
              <a:buFont typeface="Arial"/>
              <a:buChar char="•"/>
            </a:pPr>
            <a:r>
              <a:rPr b="0" i="0" lang="en-US" sz="231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Gestión de tareas: Trello + Kanban</a:t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1047155" y="5797897"/>
            <a:ext cx="6039445" cy="457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4376" lvl="1" marL="348754" marR="0" rtl="0" algn="l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312"/>
              <a:buFont typeface="Arial"/>
              <a:buChar char="•"/>
            </a:pPr>
            <a:r>
              <a:rPr b="0" i="0" lang="en-US" sz="231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Bases de datos: postgre SQL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2019449" y="8227962"/>
            <a:ext cx="14922252" cy="923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Iteración constante:</a:t>
            </a:r>
            <a:r>
              <a:rPr b="0" i="0" lang="en-US" sz="231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Escuchamos al usuario y mejoramos continuamente sin descartar cambios beneficiosos durante el desarrollo.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270" name="Google Shape;27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descr="preencoded.png" id="271" name="Google Shape;271;p9"/>
          <p:cNvSpPr/>
          <p:nvPr/>
        </p:nvSpPr>
        <p:spPr>
          <a:xfrm>
            <a:off x="0" y="0"/>
            <a:ext cx="18288000" cy="2978372"/>
          </a:xfrm>
          <a:custGeom>
            <a:rect b="b" l="l" r="r" t="t"/>
            <a:pathLst>
              <a:path extrusionOk="0" h="3971163" w="24384000">
                <a:moveTo>
                  <a:pt x="0" y="0"/>
                </a:moveTo>
                <a:lnTo>
                  <a:pt x="24384000" y="0"/>
                </a:lnTo>
                <a:lnTo>
                  <a:pt x="24384000" y="3971163"/>
                </a:lnTo>
                <a:lnTo>
                  <a:pt x="0" y="3971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" l="0" r="0" t="-48"/>
            </a:stretch>
          </a:blipFill>
          <a:ln>
            <a:noFill/>
          </a:ln>
        </p:spPr>
      </p:sp>
      <p:sp>
        <p:nvSpPr>
          <p:cNvPr id="272" name="Google Shape;272;p9"/>
          <p:cNvSpPr txBox="1"/>
          <p:nvPr/>
        </p:nvSpPr>
        <p:spPr>
          <a:xfrm>
            <a:off x="1042392" y="3751809"/>
            <a:ext cx="5754589" cy="74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Impacto </a:t>
            </a:r>
            <a:r>
              <a:rPr b="1" i="0" lang="en-US" sz="4375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Esperado</a:t>
            </a:r>
            <a:endParaRPr/>
          </a:p>
        </p:txBody>
      </p:sp>
      <p:sp>
        <p:nvSpPr>
          <p:cNvPr descr="preencoded.png" id="273" name="Google Shape;273;p9"/>
          <p:cNvSpPr/>
          <p:nvPr/>
        </p:nvSpPr>
        <p:spPr>
          <a:xfrm>
            <a:off x="1042392" y="4857452"/>
            <a:ext cx="8101585" cy="953072"/>
          </a:xfrm>
          <a:custGeom>
            <a:rect b="b" l="l" r="r" t="t"/>
            <a:pathLst>
              <a:path extrusionOk="0" h="1270762" w="10802112">
                <a:moveTo>
                  <a:pt x="0" y="0"/>
                </a:moveTo>
                <a:lnTo>
                  <a:pt x="10802112" y="0"/>
                </a:lnTo>
                <a:lnTo>
                  <a:pt x="10802112" y="1270762"/>
                </a:lnTo>
                <a:lnTo>
                  <a:pt x="0" y="1270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" l="-55" r="-55" t="0"/>
            </a:stretch>
          </a:blipFill>
          <a:ln>
            <a:noFill/>
          </a:ln>
        </p:spPr>
      </p:sp>
      <p:sp>
        <p:nvSpPr>
          <p:cNvPr id="274" name="Google Shape;274;p9"/>
          <p:cNvSpPr txBox="1"/>
          <p:nvPr/>
        </p:nvSpPr>
        <p:spPr>
          <a:xfrm>
            <a:off x="1280666" y="6020246"/>
            <a:ext cx="407283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Reducción de la deserción</a:t>
            </a:r>
            <a:endParaRPr/>
          </a:p>
        </p:txBody>
      </p:sp>
      <p:sp>
        <p:nvSpPr>
          <p:cNvPr id="275" name="Google Shape;275;p9"/>
          <p:cNvSpPr txBox="1"/>
          <p:nvPr/>
        </p:nvSpPr>
        <p:spPr>
          <a:xfrm>
            <a:off x="1280666" y="6437411"/>
            <a:ext cx="7625060" cy="485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Por desconexión</a:t>
            </a:r>
            <a:endParaRPr/>
          </a:p>
        </p:txBody>
      </p:sp>
      <p:sp>
        <p:nvSpPr>
          <p:cNvPr descr="preencoded.png" id="276" name="Google Shape;276;p9"/>
          <p:cNvSpPr/>
          <p:nvPr/>
        </p:nvSpPr>
        <p:spPr>
          <a:xfrm>
            <a:off x="9144000" y="4857452"/>
            <a:ext cx="8101585" cy="953072"/>
          </a:xfrm>
          <a:custGeom>
            <a:rect b="b" l="l" r="r" t="t"/>
            <a:pathLst>
              <a:path extrusionOk="0" h="1270762" w="10802112">
                <a:moveTo>
                  <a:pt x="0" y="0"/>
                </a:moveTo>
                <a:lnTo>
                  <a:pt x="10802112" y="0"/>
                </a:lnTo>
                <a:lnTo>
                  <a:pt x="10802112" y="1270762"/>
                </a:lnTo>
                <a:lnTo>
                  <a:pt x="0" y="1270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" l="-55" r="-55" t="0"/>
            </a:stretch>
          </a:blipFill>
          <a:ln>
            <a:noFill/>
          </a:ln>
        </p:spPr>
      </p:sp>
      <p:sp>
        <p:nvSpPr>
          <p:cNvPr id="277" name="Google Shape;277;p9"/>
          <p:cNvSpPr txBox="1"/>
          <p:nvPr/>
        </p:nvSpPr>
        <p:spPr>
          <a:xfrm>
            <a:off x="9382274" y="6020246"/>
            <a:ext cx="2952750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Mayor satisfacción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9382274" y="6437411"/>
            <a:ext cx="7625060" cy="485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Y retención estudiantil</a:t>
            </a:r>
            <a:endParaRPr/>
          </a:p>
        </p:txBody>
      </p:sp>
      <p:sp>
        <p:nvSpPr>
          <p:cNvPr descr="preencoded.png" id="279" name="Google Shape;279;p9"/>
          <p:cNvSpPr/>
          <p:nvPr/>
        </p:nvSpPr>
        <p:spPr>
          <a:xfrm>
            <a:off x="1042392" y="7161610"/>
            <a:ext cx="8101585" cy="953072"/>
          </a:xfrm>
          <a:custGeom>
            <a:rect b="b" l="l" r="r" t="t"/>
            <a:pathLst>
              <a:path extrusionOk="0" h="1270762" w="10802112">
                <a:moveTo>
                  <a:pt x="0" y="0"/>
                </a:moveTo>
                <a:lnTo>
                  <a:pt x="10802112" y="0"/>
                </a:lnTo>
                <a:lnTo>
                  <a:pt x="10802112" y="1270762"/>
                </a:lnTo>
                <a:lnTo>
                  <a:pt x="0" y="1270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" l="-55" r="-55" t="0"/>
            </a:stretch>
          </a:blipFill>
          <a:ln>
            <a:noFill/>
          </a:ln>
        </p:spPr>
      </p:sp>
      <p:sp>
        <p:nvSpPr>
          <p:cNvPr id="280" name="Google Shape;280;p9"/>
          <p:cNvSpPr txBox="1"/>
          <p:nvPr/>
        </p:nvSpPr>
        <p:spPr>
          <a:xfrm>
            <a:off x="1280666" y="8324404"/>
            <a:ext cx="4173439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Mejora en la comunicación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1280666" y="8741569"/>
            <a:ext cx="7625060" cy="485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Institucional</a:t>
            </a:r>
            <a:endParaRPr/>
          </a:p>
        </p:txBody>
      </p:sp>
      <p:sp>
        <p:nvSpPr>
          <p:cNvPr descr="preencoded.png" id="282" name="Google Shape;282;p9"/>
          <p:cNvSpPr/>
          <p:nvPr/>
        </p:nvSpPr>
        <p:spPr>
          <a:xfrm>
            <a:off x="9144000" y="7161610"/>
            <a:ext cx="8101585" cy="953072"/>
          </a:xfrm>
          <a:custGeom>
            <a:rect b="b" l="l" r="r" t="t"/>
            <a:pathLst>
              <a:path extrusionOk="0" h="1270762" w="10802112">
                <a:moveTo>
                  <a:pt x="0" y="0"/>
                </a:moveTo>
                <a:lnTo>
                  <a:pt x="10802112" y="0"/>
                </a:lnTo>
                <a:lnTo>
                  <a:pt x="10802112" y="1270762"/>
                </a:lnTo>
                <a:lnTo>
                  <a:pt x="0" y="1270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" l="-55" r="-55" t="0"/>
            </a:stretch>
          </a:blipFill>
          <a:ln>
            <a:noFill/>
          </a:ln>
        </p:spPr>
      </p:sp>
      <p:sp>
        <p:nvSpPr>
          <p:cNvPr id="283" name="Google Shape;283;p9"/>
          <p:cNvSpPr txBox="1"/>
          <p:nvPr/>
        </p:nvSpPr>
        <p:spPr>
          <a:xfrm>
            <a:off x="9382274" y="8324404"/>
            <a:ext cx="2803178" cy="37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Escalabilidad</a:t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>
            <a:off x="9382274" y="8741569"/>
            <a:ext cx="7625060" cy="485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 otras universidades en Chile y LATAM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294" name="Google Shape;294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id="295" name="Google Shape;295;p10"/>
          <p:cNvSpPr txBox="1"/>
          <p:nvPr/>
        </p:nvSpPr>
        <p:spPr>
          <a:xfrm>
            <a:off x="1047155" y="872430"/>
            <a:ext cx="5632400" cy="751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¿Por Qué </a:t>
            </a:r>
            <a:r>
              <a:rPr b="1" i="0" lang="en-US" sz="4375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Ahora</a:t>
            </a:r>
            <a:r>
              <a:rPr b="1" i="0" lang="en-US" sz="43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1047155" y="2102792"/>
            <a:ext cx="7977187" cy="830580"/>
          </a:xfrm>
          <a:custGeom>
            <a:rect b="b" l="l" r="r" t="t"/>
            <a:pathLst>
              <a:path extrusionOk="0" h="1107440" w="10636250">
                <a:moveTo>
                  <a:pt x="0" y="47879"/>
                </a:moveTo>
                <a:cubicBezTo>
                  <a:pt x="0" y="21463"/>
                  <a:pt x="21463" y="0"/>
                  <a:pt x="47879" y="0"/>
                </a:cubicBezTo>
                <a:lnTo>
                  <a:pt x="10588371" y="0"/>
                </a:lnTo>
                <a:cubicBezTo>
                  <a:pt x="10614787" y="0"/>
                  <a:pt x="10636250" y="21463"/>
                  <a:pt x="10636250" y="47879"/>
                </a:cubicBezTo>
                <a:lnTo>
                  <a:pt x="10636250" y="1059561"/>
                </a:lnTo>
                <a:cubicBezTo>
                  <a:pt x="10636250" y="1085977"/>
                  <a:pt x="10614787" y="1107440"/>
                  <a:pt x="10588371" y="1107440"/>
                </a:cubicBezTo>
                <a:lnTo>
                  <a:pt x="47879" y="1107440"/>
                </a:lnTo>
                <a:cubicBezTo>
                  <a:pt x="21463" y="1107440"/>
                  <a:pt x="0" y="1086104"/>
                  <a:pt x="0" y="1059561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1286470" y="2313534"/>
            <a:ext cx="6673155" cy="38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El costo de perder un estudiante es altísimo</a:t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9263657" y="2102792"/>
            <a:ext cx="7977187" cy="830580"/>
          </a:xfrm>
          <a:custGeom>
            <a:rect b="b" l="l" r="r" t="t"/>
            <a:pathLst>
              <a:path extrusionOk="0" h="1107440" w="10636250">
                <a:moveTo>
                  <a:pt x="0" y="47879"/>
                </a:moveTo>
                <a:cubicBezTo>
                  <a:pt x="0" y="21463"/>
                  <a:pt x="21463" y="0"/>
                  <a:pt x="47879" y="0"/>
                </a:cubicBezTo>
                <a:lnTo>
                  <a:pt x="10588371" y="0"/>
                </a:lnTo>
                <a:cubicBezTo>
                  <a:pt x="10614787" y="0"/>
                  <a:pt x="10636250" y="21463"/>
                  <a:pt x="10636250" y="47879"/>
                </a:cubicBezTo>
                <a:lnTo>
                  <a:pt x="10636250" y="1059561"/>
                </a:lnTo>
                <a:cubicBezTo>
                  <a:pt x="10636250" y="1085977"/>
                  <a:pt x="10614787" y="1107440"/>
                  <a:pt x="10588371" y="1107440"/>
                </a:cubicBezTo>
                <a:lnTo>
                  <a:pt x="47879" y="1107440"/>
                </a:lnTo>
                <a:cubicBezTo>
                  <a:pt x="21463" y="1107440"/>
                  <a:pt x="0" y="1086104"/>
                  <a:pt x="0" y="1059561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 txBox="1"/>
          <p:nvPr/>
        </p:nvSpPr>
        <p:spPr>
          <a:xfrm>
            <a:off x="9502974" y="2313534"/>
            <a:ext cx="6724055" cy="38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La competencia entre instituciones es feroz</a:t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1047155" y="3172717"/>
            <a:ext cx="7977187" cy="830580"/>
          </a:xfrm>
          <a:custGeom>
            <a:rect b="b" l="l" r="r" t="t"/>
            <a:pathLst>
              <a:path extrusionOk="0" h="1107440" w="10636250">
                <a:moveTo>
                  <a:pt x="0" y="47879"/>
                </a:moveTo>
                <a:cubicBezTo>
                  <a:pt x="0" y="21463"/>
                  <a:pt x="21463" y="0"/>
                  <a:pt x="47879" y="0"/>
                </a:cubicBezTo>
                <a:lnTo>
                  <a:pt x="10588371" y="0"/>
                </a:lnTo>
                <a:cubicBezTo>
                  <a:pt x="10614787" y="0"/>
                  <a:pt x="10636250" y="21463"/>
                  <a:pt x="10636250" y="47879"/>
                </a:cubicBezTo>
                <a:lnTo>
                  <a:pt x="10636250" y="1059561"/>
                </a:lnTo>
                <a:cubicBezTo>
                  <a:pt x="10636250" y="1085977"/>
                  <a:pt x="10614787" y="1107440"/>
                  <a:pt x="10588371" y="1107440"/>
                </a:cubicBezTo>
                <a:lnTo>
                  <a:pt x="47879" y="1107440"/>
                </a:lnTo>
                <a:cubicBezTo>
                  <a:pt x="21463" y="1107440"/>
                  <a:pt x="0" y="1086104"/>
                  <a:pt x="0" y="1059561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 txBox="1"/>
          <p:nvPr/>
        </p:nvSpPr>
        <p:spPr>
          <a:xfrm>
            <a:off x="1286470" y="3383459"/>
            <a:ext cx="6619429" cy="38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La transformación digital ya no es opcional</a:t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9263657" y="3172717"/>
            <a:ext cx="7977187" cy="830580"/>
          </a:xfrm>
          <a:custGeom>
            <a:rect b="b" l="l" r="r" t="t"/>
            <a:pathLst>
              <a:path extrusionOk="0" h="1107440" w="10636250">
                <a:moveTo>
                  <a:pt x="0" y="47879"/>
                </a:moveTo>
                <a:cubicBezTo>
                  <a:pt x="0" y="21463"/>
                  <a:pt x="21463" y="0"/>
                  <a:pt x="47879" y="0"/>
                </a:cubicBezTo>
                <a:lnTo>
                  <a:pt x="10588371" y="0"/>
                </a:lnTo>
                <a:cubicBezTo>
                  <a:pt x="10614787" y="0"/>
                  <a:pt x="10636250" y="21463"/>
                  <a:pt x="10636250" y="47879"/>
                </a:cubicBezTo>
                <a:lnTo>
                  <a:pt x="10636250" y="1059561"/>
                </a:lnTo>
                <a:cubicBezTo>
                  <a:pt x="10636250" y="1085977"/>
                  <a:pt x="10614787" y="1107440"/>
                  <a:pt x="10588371" y="1107440"/>
                </a:cubicBezTo>
                <a:lnTo>
                  <a:pt x="47879" y="1107440"/>
                </a:lnTo>
                <a:cubicBezTo>
                  <a:pt x="21463" y="1107440"/>
                  <a:pt x="0" y="1086104"/>
                  <a:pt x="0" y="1059561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9502974" y="3383459"/>
            <a:ext cx="7449294" cy="38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Student-Point está listo para pilotearse y escalar</a:t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1047155" y="4392232"/>
            <a:ext cx="16193643" cy="39433"/>
          </a:xfrm>
          <a:custGeom>
            <a:rect b="b" l="l" r="r" t="t"/>
            <a:pathLst>
              <a:path extrusionOk="0" h="52578" w="21591524">
                <a:moveTo>
                  <a:pt x="0" y="0"/>
                </a:moveTo>
                <a:lnTo>
                  <a:pt x="21591524" y="0"/>
                </a:lnTo>
                <a:lnTo>
                  <a:pt x="21591524" y="52578"/>
                </a:lnTo>
                <a:lnTo>
                  <a:pt x="0" y="52578"/>
                </a:lnTo>
                <a:close/>
              </a:path>
            </a:pathLst>
          </a:custGeom>
          <a:solidFill>
            <a:srgbClr val="D9E1FF">
              <a:alpha val="24705"/>
            </a:srgbClr>
          </a:solidFill>
          <a:ln>
            <a:noFill/>
          </a:ln>
        </p:spPr>
      </p:sp>
      <p:sp>
        <p:nvSpPr>
          <p:cNvPr id="305" name="Google Shape;305;p10"/>
          <p:cNvSpPr txBox="1"/>
          <p:nvPr/>
        </p:nvSpPr>
        <p:spPr>
          <a:xfrm>
            <a:off x="1047155" y="4704904"/>
            <a:ext cx="16193690" cy="2901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5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12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Únete al piloto de Student-Point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1047155" y="7927627"/>
            <a:ext cx="7156697" cy="601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Contáctanos para una demo</a:t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1047155" y="8773716"/>
            <a:ext cx="16193690" cy="59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12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Cupos limitados para la primera fase de implementación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0D48"/>
          </a:solidFill>
          <a:ln>
            <a:noFill/>
          </a:ln>
        </p:spPr>
      </p:sp>
      <p:sp>
        <p:nvSpPr>
          <p:cNvPr id="317" name="Google Shape;31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C0A33"/>
          </a:solidFill>
          <a:ln>
            <a:noFill/>
          </a:ln>
        </p:spPr>
      </p:sp>
      <p:sp>
        <p:nvSpPr>
          <p:cNvPr id="318" name="Google Shape;318;p11"/>
          <p:cNvSpPr txBox="1"/>
          <p:nvPr/>
        </p:nvSpPr>
        <p:spPr>
          <a:xfrm>
            <a:off x="1028700" y="981075"/>
            <a:ext cx="8455819" cy="71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¿Cuales son nuestras </a:t>
            </a:r>
            <a:r>
              <a:rPr b="1" i="0" lang="en-US" sz="4375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fuentes</a:t>
            </a:r>
            <a:r>
              <a:rPr b="1" i="0" lang="en-US" sz="4375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1047150" y="2102801"/>
            <a:ext cx="16167100" cy="7556988"/>
          </a:xfrm>
          <a:custGeom>
            <a:rect b="b" l="l" r="r" t="t"/>
            <a:pathLst>
              <a:path extrusionOk="0" h="4531927" w="10636250">
                <a:moveTo>
                  <a:pt x="0" y="195933"/>
                </a:moveTo>
                <a:cubicBezTo>
                  <a:pt x="0" y="87832"/>
                  <a:pt x="21463" y="0"/>
                  <a:pt x="47879" y="0"/>
                </a:cubicBezTo>
                <a:lnTo>
                  <a:pt x="10588371" y="0"/>
                </a:lnTo>
                <a:cubicBezTo>
                  <a:pt x="10614787" y="0"/>
                  <a:pt x="10636250" y="87832"/>
                  <a:pt x="10636250" y="195933"/>
                </a:cubicBezTo>
                <a:lnTo>
                  <a:pt x="10636250" y="4335994"/>
                </a:lnTo>
                <a:cubicBezTo>
                  <a:pt x="10636250" y="4444095"/>
                  <a:pt x="10614787" y="4531927"/>
                  <a:pt x="10588371" y="4531927"/>
                </a:cubicBezTo>
                <a:lnTo>
                  <a:pt x="47879" y="4531927"/>
                </a:lnTo>
                <a:cubicBezTo>
                  <a:pt x="21463" y="4531927"/>
                  <a:pt x="0" y="4444615"/>
                  <a:pt x="0" y="4335994"/>
                </a:cubicBezTo>
                <a:close/>
              </a:path>
            </a:pathLst>
          </a:cu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 txBox="1"/>
          <p:nvPr/>
        </p:nvSpPr>
        <p:spPr>
          <a:xfrm>
            <a:off x="1286470" y="2313534"/>
            <a:ext cx="15413361" cy="6184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Fuentes Analizadas y busquedas importantes para nuestra presentación</a:t>
            </a:r>
            <a:endParaRPr/>
          </a:p>
          <a:p>
            <a:pPr indent="-236141" lvl="1" marL="472281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mo"/>
              <a:buAutoNum type="arabicPeriod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Desorientación en malls y comportamiento del consumidor: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“Why People Get Lost in Malls” – The Atlantic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“The Impact of Mall Layout on Shopper Behavior” – Journal of Retailing and Consumer Services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“Wayfinding in Shopping Malls: A Study on Navigation and Customer Experience” – ScienceDirect</a:t>
            </a:r>
            <a:endParaRPr/>
          </a:p>
          <a:p>
            <a:pPr indent="-236141" lvl="1" marL="472281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mo"/>
              <a:buAutoNum type="arabicPeriod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Abandono universitario por desconexión social o académica: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“Dropout Rates in Higher Education: A Global Perspective” – UNESCO Institute for Statistics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“Factores asociados a la deserción universitaria en Chile” – Revista Calidad en la Educación (CNED, Chile)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“Deserción en la Educación Superior: Diagnóstico y Propuestas” – Fundación Belén Educa / Mineduc Chile</a:t>
            </a:r>
            <a:endParaRPr/>
          </a:p>
          <a:p>
            <a:pPr indent="-236141" lvl="1" marL="472281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mo"/>
              <a:buAutoNum type="arabicPeriod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Costo de la educación superior en Chile: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“Estudio de Financiamiento de la Educación Superior en Chile” – Ministerio de Educación de Chile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“¿Cuánto cuesta estudiar en Chile?” – La Tercera</a:t>
            </a:r>
            <a:endParaRPr/>
          </a:p>
          <a:p>
            <a:pPr indent="-314854" lvl="2" marL="944563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⚬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“OECD Education at a Glance: Chile” – OECD.org</a:t>
            </a:r>
            <a:endParaRPr/>
          </a:p>
          <a:p>
            <a:pPr indent="-236141" lvl="1" marL="472281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mo"/>
              <a:buAutoNum type="arabicPeriod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Experiencia estudiantil y transformación digital:</a:t>
            </a:r>
            <a:endParaRPr/>
          </a:p>
          <a:p>
            <a:pPr indent="-236141" lvl="1" marL="472281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•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“The Role of Digital Platforms in Enhancing Student Engagement” – EDUCAUSE Review</a:t>
            </a:r>
            <a:endParaRPr/>
          </a:p>
          <a:p>
            <a:pPr indent="-236141" lvl="1" marL="472281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•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“Digital Campus: Improving Student Experience Through Technology” – McKinsey &amp; Company</a:t>
            </a:r>
            <a:endParaRPr/>
          </a:p>
          <a:p>
            <a:pPr indent="-236141" lvl="1" marL="472281" marR="0" rtl="0" algn="l">
              <a:lnSpc>
                <a:spcPct val="125697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2187"/>
              <a:buFont typeface="Arial"/>
              <a:buChar char="•"/>
            </a:pPr>
            <a:r>
              <a:rPr b="1" i="0" lang="en-US" sz="2187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“Tendencias en Tecnología Educativa 2025” – Observatorio de Innovación Educativa, Tecnológico de Monterrey</a:t>
            </a:r>
            <a:endParaRPr/>
          </a:p>
          <a:p>
            <a:pPr indent="0" lvl="0" marL="0" marR="0" rtl="0" algn="l">
              <a:lnSpc>
                <a:spcPct val="1257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87" u="none" cap="none" strike="noStrike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028700" y="9218860"/>
            <a:ext cx="16193643" cy="39433"/>
          </a:xfrm>
          <a:custGeom>
            <a:rect b="b" l="l" r="r" t="t"/>
            <a:pathLst>
              <a:path extrusionOk="0" h="52578" w="21591524">
                <a:moveTo>
                  <a:pt x="0" y="0"/>
                </a:moveTo>
                <a:lnTo>
                  <a:pt x="21591524" y="0"/>
                </a:lnTo>
                <a:lnTo>
                  <a:pt x="21591524" y="52578"/>
                </a:lnTo>
                <a:lnTo>
                  <a:pt x="0" y="52578"/>
                </a:lnTo>
                <a:close/>
              </a:path>
            </a:pathLst>
          </a:custGeom>
          <a:solidFill>
            <a:srgbClr val="D9E1FF">
              <a:alpha val="24705"/>
            </a:srgbClr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